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Times New Roman Bold" charset="1" panose="02020803070505020304"/>
      <p:regular r:id="rId12"/>
    </p:embeddedFont>
    <p:embeddedFont>
      <p:font typeface="Garamond Bold" charset="1" panose="02020804030307010803"/>
      <p:regular r:id="rId13"/>
    </p:embeddedFont>
    <p:embeddedFont>
      <p:font typeface="Arial Bold" charset="1" panose="020B0704020202020204"/>
      <p:regular r:id="rId14"/>
    </p:embeddedFont>
    <p:embeddedFont>
      <p:font typeface="Arial" charset="1" panose="020B0604020202020204"/>
      <p:regular r:id="rId15"/>
    </p:embeddedFont>
    <p:embeddedFont>
      <p:font typeface="Trade Gothic Condensed Bold" charset="1" panose="020B0806040303020004"/>
      <p:regular r:id="rId16"/>
    </p:embeddedFont>
    <p:embeddedFont>
      <p:font typeface="Trade Gothic Condensed" charset="1" panose="020B0506040303020004"/>
      <p:regular r:id="rId17"/>
    </p:embeddedFont>
    <p:embeddedFont>
      <p:font typeface="Norwester" charset="1" panose="00000506000000000000"/>
      <p:regular r:id="rId18"/>
    </p:embeddedFont>
    <p:embeddedFont>
      <p:font typeface="Canva Sans 1 Bold" charset="1" panose="020B0803030501040103"/>
      <p:regular r:id="rId19"/>
    </p:embeddedFont>
    <p:embeddedFont>
      <p:font typeface="Canva Sans 2 Bold" charset="1" panose="020B0803030501040103"/>
      <p:regular r:id="rId20"/>
    </p:embeddedFont>
    <p:embeddedFont>
      <p:font typeface="Glacial Indifference" charset="1" panose="00000000000000000000"/>
      <p:regular r:id="rId21"/>
    </p:embeddedFont>
    <p:embeddedFont>
      <p:font typeface="Glacial Indifference Bold" charset="1" panose="00000800000000000000"/>
      <p:regular r:id="rId22"/>
    </p:embeddedFont>
    <p:embeddedFont>
      <p:font typeface="Arial Italics" charset="1" panose="020B0604020202090204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jpeg" Type="http://schemas.openxmlformats.org/officeDocument/2006/relationships/image"/><Relationship Id="rId6" Target="../media/image5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5.pn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8.png" Type="http://schemas.openxmlformats.org/officeDocument/2006/relationships/image"/><Relationship Id="rId7" Target="../media/image9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5.png" Type="http://schemas.openxmlformats.org/officeDocument/2006/relationships/image"/><Relationship Id="rId11" Target="../media/image16.png" Type="http://schemas.openxmlformats.org/officeDocument/2006/relationships/image"/><Relationship Id="rId12" Target="../media/image17.png" Type="http://schemas.openxmlformats.org/officeDocument/2006/relationships/image"/><Relationship Id="rId13" Target="../media/image18.png" Type="http://schemas.openxmlformats.org/officeDocument/2006/relationships/image"/><Relationship Id="rId14" Target="../media/image19.png" Type="http://schemas.openxmlformats.org/officeDocument/2006/relationships/image"/><Relationship Id="rId15" Target="../media/image20.png" Type="http://schemas.openxmlformats.org/officeDocument/2006/relationships/image"/><Relationship Id="rId16" Target="../media/image21.png" Type="http://schemas.openxmlformats.org/officeDocument/2006/relationships/image"/><Relationship Id="rId17" Target="../media/image22.png" Type="http://schemas.openxmlformats.org/officeDocument/2006/relationships/image"/><Relationship Id="rId18" Target="../media/image23.png" Type="http://schemas.openxmlformats.org/officeDocument/2006/relationships/image"/><Relationship Id="rId19" Target="../media/image24.png" Type="http://schemas.openxmlformats.org/officeDocument/2006/relationships/image"/><Relationship Id="rId2" Target="../media/image4.jpeg" Type="http://schemas.openxmlformats.org/officeDocument/2006/relationships/image"/><Relationship Id="rId20" Target="../media/image25.png" Type="http://schemas.openxmlformats.org/officeDocument/2006/relationships/image"/><Relationship Id="rId21" Target="../media/image26.png" Type="http://schemas.openxmlformats.org/officeDocument/2006/relationships/image"/><Relationship Id="rId22" Target="../media/image27.png" Type="http://schemas.openxmlformats.org/officeDocument/2006/relationships/image"/><Relationship Id="rId23" Target="../media/image28.png" Type="http://schemas.openxmlformats.org/officeDocument/2006/relationships/image"/><Relationship Id="rId24" Target="../media/image29.png" Type="http://schemas.openxmlformats.org/officeDocument/2006/relationships/image"/><Relationship Id="rId25" Target="../media/image30.png" Type="http://schemas.openxmlformats.org/officeDocument/2006/relationships/image"/><Relationship Id="rId26" Target="../media/image31.png" Type="http://schemas.openxmlformats.org/officeDocument/2006/relationships/image"/><Relationship Id="rId27" Target="../media/image32.png" Type="http://schemas.openxmlformats.org/officeDocument/2006/relationships/image"/><Relationship Id="rId28" Target="../media/image33.png" Type="http://schemas.openxmlformats.org/officeDocument/2006/relationships/image"/><Relationship Id="rId29" Target="../media/image34.png" Type="http://schemas.openxmlformats.org/officeDocument/2006/relationships/image"/><Relationship Id="rId3" Target="../media/image5.png" Type="http://schemas.openxmlformats.org/officeDocument/2006/relationships/image"/><Relationship Id="rId30" Target="../media/image35.png" Type="http://schemas.openxmlformats.org/officeDocument/2006/relationships/image"/><Relationship Id="rId31" Target="../media/image36.png" Type="http://schemas.openxmlformats.org/officeDocument/2006/relationships/image"/><Relationship Id="rId32" Target="../media/image37.png" Type="http://schemas.openxmlformats.org/officeDocument/2006/relationships/image"/><Relationship Id="rId4" Target="../media/image8.png" Type="http://schemas.openxmlformats.org/officeDocument/2006/relationships/image"/><Relationship Id="rId5" Target="../media/image10.png" Type="http://schemas.openxmlformats.org/officeDocument/2006/relationships/image"/><Relationship Id="rId6" Target="../media/image11.png" Type="http://schemas.openxmlformats.org/officeDocument/2006/relationships/image"/><Relationship Id="rId7" Target="../media/image12.png" Type="http://schemas.openxmlformats.org/officeDocument/2006/relationships/image"/><Relationship Id="rId8" Target="../media/image13.png" Type="http://schemas.openxmlformats.org/officeDocument/2006/relationships/image"/><Relationship Id="rId9" Target="../media/image1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4.png" Type="http://schemas.openxmlformats.org/officeDocument/2006/relationships/image"/><Relationship Id="rId11" Target="../media/image8.png" Type="http://schemas.openxmlformats.org/officeDocument/2006/relationships/image"/><Relationship Id="rId12" Target="../media/image45.png" Type="http://schemas.openxmlformats.org/officeDocument/2006/relationships/image"/><Relationship Id="rId13" Target="../media/image46.png" Type="http://schemas.openxmlformats.org/officeDocument/2006/relationships/image"/><Relationship Id="rId14" Target="../media/image47.png" Type="http://schemas.openxmlformats.org/officeDocument/2006/relationships/image"/><Relationship Id="rId15" Target="../media/image48.png" Type="http://schemas.openxmlformats.org/officeDocument/2006/relationships/image"/><Relationship Id="rId16" Target="../media/image49.png" Type="http://schemas.openxmlformats.org/officeDocument/2006/relationships/image"/><Relationship Id="rId17" Target="../media/image50.svg" Type="http://schemas.openxmlformats.org/officeDocument/2006/relationships/image"/><Relationship Id="rId2" Target="../media/image4.jpeg" Type="http://schemas.openxmlformats.org/officeDocument/2006/relationships/image"/><Relationship Id="rId3" Target="../media/image5.png" Type="http://schemas.openxmlformats.org/officeDocument/2006/relationships/image"/><Relationship Id="rId4" Target="../media/image38.png" Type="http://schemas.openxmlformats.org/officeDocument/2006/relationships/image"/><Relationship Id="rId5" Target="../media/image39.png" Type="http://schemas.openxmlformats.org/officeDocument/2006/relationships/image"/><Relationship Id="rId6" Target="../media/image40.png" Type="http://schemas.openxmlformats.org/officeDocument/2006/relationships/image"/><Relationship Id="rId7" Target="../media/image41.png" Type="http://schemas.openxmlformats.org/officeDocument/2006/relationships/image"/><Relationship Id="rId8" Target="../media/image42.png" Type="http://schemas.openxmlformats.org/officeDocument/2006/relationships/image"/><Relationship Id="rId9" Target="../media/image43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6.svg" Type="http://schemas.openxmlformats.org/officeDocument/2006/relationships/image"/><Relationship Id="rId11" Target="../media/image57.png" Type="http://schemas.openxmlformats.org/officeDocument/2006/relationships/image"/><Relationship Id="rId12" Target="../media/image58.png" Type="http://schemas.openxmlformats.org/officeDocument/2006/relationships/image"/><Relationship Id="rId13" Target="../media/image59.png" Type="http://schemas.openxmlformats.org/officeDocument/2006/relationships/image"/><Relationship Id="rId2" Target="../media/image4.jpeg" Type="http://schemas.openxmlformats.org/officeDocument/2006/relationships/image"/><Relationship Id="rId3" Target="../media/image5.png" Type="http://schemas.openxmlformats.org/officeDocument/2006/relationships/image"/><Relationship Id="rId4" Target="../media/image8.png" Type="http://schemas.openxmlformats.org/officeDocument/2006/relationships/image"/><Relationship Id="rId5" Target="../media/image51.png" Type="http://schemas.openxmlformats.org/officeDocument/2006/relationships/image"/><Relationship Id="rId6" Target="../media/image52.svg" Type="http://schemas.openxmlformats.org/officeDocument/2006/relationships/image"/><Relationship Id="rId7" Target="../media/image53.png" Type="http://schemas.openxmlformats.org/officeDocument/2006/relationships/image"/><Relationship Id="rId8" Target="../media/image54.svg" Type="http://schemas.openxmlformats.org/officeDocument/2006/relationships/image"/><Relationship Id="rId9" Target="../media/image5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5.png" Type="http://schemas.openxmlformats.org/officeDocument/2006/relationships/image"/><Relationship Id="rId4" Target="../media/image8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485165" y="1277283"/>
            <a:ext cx="6957908" cy="7732452"/>
          </a:xfrm>
          <a:custGeom>
            <a:avLst/>
            <a:gdLst/>
            <a:ahLst/>
            <a:cxnLst/>
            <a:rect r="r" b="b" t="t" l="l"/>
            <a:pathLst>
              <a:path h="7732452" w="6957908">
                <a:moveTo>
                  <a:pt x="0" y="0"/>
                </a:moveTo>
                <a:lnTo>
                  <a:pt x="6957908" y="0"/>
                </a:lnTo>
                <a:lnTo>
                  <a:pt x="6957908" y="7732453"/>
                </a:lnTo>
                <a:lnTo>
                  <a:pt x="0" y="77324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2333" y="2573817"/>
            <a:ext cx="4805267" cy="5139357"/>
            <a:chOff x="0" y="0"/>
            <a:chExt cx="6407023" cy="685247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407023" cy="6852412"/>
            </a:xfrm>
            <a:custGeom>
              <a:avLst/>
              <a:gdLst/>
              <a:ahLst/>
              <a:cxnLst/>
              <a:rect r="r" b="b" t="t" l="l"/>
              <a:pathLst>
                <a:path h="6852412" w="6407023">
                  <a:moveTo>
                    <a:pt x="0" y="0"/>
                  </a:moveTo>
                  <a:lnTo>
                    <a:pt x="6407023" y="0"/>
                  </a:lnTo>
                  <a:lnTo>
                    <a:pt x="6407023" y="6852412"/>
                  </a:lnTo>
                  <a:lnTo>
                    <a:pt x="0" y="68524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149475" b="-1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1959969" y="990067"/>
            <a:ext cx="12618720" cy="2566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59"/>
              </a:lnSpc>
            </a:pPr>
          </a:p>
          <a:p>
            <a:pPr algn="ctr">
              <a:lnSpc>
                <a:spcPts val="5759"/>
              </a:lnSpc>
            </a:pPr>
            <a:r>
              <a:rPr lang="en-US" sz="48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TITLE PAGE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496929" y="-790137"/>
            <a:ext cx="15544800" cy="3114675"/>
            <a:chOff x="0" y="0"/>
            <a:chExt cx="20726400" cy="41529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726400" cy="4152900"/>
            </a:xfrm>
            <a:custGeom>
              <a:avLst/>
              <a:gdLst/>
              <a:ahLst/>
              <a:cxnLst/>
              <a:rect r="r" b="b" t="t" l="l"/>
              <a:pathLst>
                <a:path h="4152900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4152900"/>
                  </a:lnTo>
                  <a:lnTo>
                    <a:pt x="0" y="41529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47246" r="0" b="-47246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19050"/>
              <a:ext cx="20726400" cy="41719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200"/>
                </a:lnSpc>
              </a:pPr>
              <a:r>
                <a:rPr lang="en-US" sz="6000" b="true">
                  <a:solidFill>
                    <a:srgbClr val="1F497D"/>
                  </a:solidFill>
                  <a:latin typeface="Garamond Bold"/>
                  <a:ea typeface="Garamond Bold"/>
                  <a:cs typeface="Garamond Bold"/>
                  <a:sym typeface="Garamond Bold"/>
                </a:rPr>
                <a:t>SMART INDIA HACKATHON 2026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292702" y="2268322"/>
            <a:ext cx="17752201" cy="72555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89"/>
              </a:lnSpc>
            </a:pPr>
          </a:p>
          <a:p>
            <a:pPr algn="just" marL="616734" indent="-308367" lvl="1">
              <a:lnSpc>
                <a:spcPts val="8178"/>
              </a:lnSpc>
              <a:buFont typeface="Arial"/>
              <a:buChar char="•"/>
            </a:pPr>
            <a:r>
              <a:rPr lang="en-US" b="true" sz="3407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Problem Statement ID – </a:t>
            </a:r>
            <a:r>
              <a:rPr lang="en-US" sz="340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SIH26186</a:t>
            </a:r>
          </a:p>
          <a:p>
            <a:pPr algn="just" marL="616734" indent="-308367" lvl="1">
              <a:lnSpc>
                <a:spcPts val="8178"/>
              </a:lnSpc>
              <a:buFont typeface="Arial"/>
              <a:buChar char="•"/>
            </a:pPr>
            <a:r>
              <a:rPr lang="en-US" b="true" sz="3407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Problem Statement Title- </a:t>
            </a:r>
            <a:r>
              <a:rPr lang="en-US" sz="340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AI-Based Predictive Personnel </a:t>
            </a:r>
          </a:p>
          <a:p>
            <a:pPr algn="just">
              <a:lnSpc>
                <a:spcPts val="5963"/>
              </a:lnSpc>
            </a:pPr>
            <a:r>
              <a:rPr lang="en-US" sz="340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Stress and Welfare Monitoring System for Uniformed Forces</a:t>
            </a:r>
          </a:p>
          <a:p>
            <a:pPr algn="just" marL="616734" indent="-308367" lvl="1">
              <a:lnSpc>
                <a:spcPts val="8178"/>
              </a:lnSpc>
              <a:buFont typeface="Arial"/>
              <a:buChar char="•"/>
            </a:pPr>
            <a:r>
              <a:rPr lang="en-US" b="true" sz="3407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Theme- </a:t>
            </a:r>
            <a:r>
              <a:rPr lang="en-US" sz="340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HealthTech / BioTech / MedTech</a:t>
            </a:r>
          </a:p>
          <a:p>
            <a:pPr algn="just" marL="616734" indent="-308367" lvl="1">
              <a:lnSpc>
                <a:spcPts val="8178"/>
              </a:lnSpc>
              <a:buFont typeface="Arial"/>
              <a:buChar char="•"/>
            </a:pPr>
            <a:r>
              <a:rPr lang="en-US" b="true" sz="3407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PS Category- </a:t>
            </a:r>
            <a:r>
              <a:rPr lang="en-US" sz="340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Software</a:t>
            </a:r>
          </a:p>
          <a:p>
            <a:pPr algn="just" marL="616734" indent="-308367" lvl="1">
              <a:lnSpc>
                <a:spcPts val="8178"/>
              </a:lnSpc>
              <a:buFont typeface="Arial"/>
              <a:buChar char="•"/>
            </a:pPr>
            <a:r>
              <a:rPr lang="en-US" b="true" sz="3407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Team ID- </a:t>
            </a:r>
            <a:r>
              <a:rPr lang="en-US" sz="340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188472</a:t>
            </a:r>
          </a:p>
          <a:p>
            <a:pPr algn="just" marL="616734" indent="-308367" lvl="1">
              <a:lnSpc>
                <a:spcPts val="8178"/>
              </a:lnSpc>
              <a:buFont typeface="Arial"/>
              <a:buChar char="•"/>
            </a:pPr>
            <a:r>
              <a:rPr lang="en-US" b="true" sz="3407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Team Name - </a:t>
            </a:r>
            <a:r>
              <a:rPr lang="en-US" sz="340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ISM Troopers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4670129" y="2248"/>
            <a:ext cx="3374774" cy="1593504"/>
            <a:chOff x="0" y="0"/>
            <a:chExt cx="4499699" cy="212467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1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532144"/>
            <a:ext cx="18288000" cy="754856"/>
            <a:chOff x="0" y="0"/>
            <a:chExt cx="24384000" cy="10064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6895360" y="-817541"/>
            <a:ext cx="4959881" cy="1846241"/>
            <a:chOff x="0" y="0"/>
            <a:chExt cx="6613175" cy="246165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613175" cy="2461655"/>
            </a:xfrm>
            <a:custGeom>
              <a:avLst/>
              <a:gdLst/>
              <a:ahLst/>
              <a:cxnLst/>
              <a:rect r="r" b="b" t="t" l="l"/>
              <a:pathLst>
                <a:path h="2461655" w="6613175">
                  <a:moveTo>
                    <a:pt x="0" y="0"/>
                  </a:moveTo>
                  <a:lnTo>
                    <a:pt x="6613175" y="0"/>
                  </a:lnTo>
                  <a:lnTo>
                    <a:pt x="6613175" y="2461655"/>
                  </a:lnTo>
                  <a:lnTo>
                    <a:pt x="0" y="246165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7276" r="-231846" b="-12014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6613175" cy="24902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</a:p>
            <a:p>
              <a:pPr algn="ctr">
                <a:lnSpc>
                  <a:spcPts val="6120"/>
                </a:lnSpc>
              </a:pPr>
              <a:r>
                <a:rPr lang="en-US" sz="51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IDEA TITLE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5689600" cy="768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Trade Gothic Condensed Bold"/>
                  <a:ea typeface="Trade Gothic Condensed Bold"/>
                  <a:cs typeface="Trade Gothic Condensed Bold"/>
                  <a:sym typeface="Trade Gothic Condensed Bold"/>
                </a:rPr>
                <a:t>2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972300" y="9534525"/>
            <a:ext cx="4806001" cy="547688"/>
            <a:chOff x="0" y="0"/>
            <a:chExt cx="6408001" cy="7302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408000" cy="730250"/>
            </a:xfrm>
            <a:custGeom>
              <a:avLst/>
              <a:gdLst/>
              <a:ahLst/>
              <a:cxnLst/>
              <a:rect r="r" b="b" t="t" l="l"/>
              <a:pathLst>
                <a:path h="730250" w="640800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0982" r="0" b="-120982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6408001" cy="768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Trade Gothic Condensed"/>
                  <a:ea typeface="Trade Gothic Condensed"/>
                  <a:cs typeface="Trade Gothic Condensed"/>
                  <a:sym typeface="Trade Gothic Condensed"/>
                </a:rPr>
                <a:t>@SIH Idea submission- Template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5240000" y="2248"/>
            <a:ext cx="2804903" cy="1324422"/>
            <a:chOff x="0" y="0"/>
            <a:chExt cx="4499699" cy="212467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1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3420304" y="864727"/>
            <a:ext cx="11932920" cy="946976"/>
            <a:chOff x="0" y="0"/>
            <a:chExt cx="15910560" cy="1262634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5910561" cy="1262634"/>
            </a:xfrm>
            <a:custGeom>
              <a:avLst/>
              <a:gdLst/>
              <a:ahLst/>
              <a:cxnLst/>
              <a:rect r="r" b="b" t="t" l="l"/>
              <a:pathLst>
                <a:path h="1262634" w="15910561">
                  <a:moveTo>
                    <a:pt x="0" y="0"/>
                  </a:moveTo>
                  <a:lnTo>
                    <a:pt x="15910561" y="0"/>
                  </a:lnTo>
                  <a:lnTo>
                    <a:pt x="15910561" y="1262634"/>
                  </a:lnTo>
                  <a:lnTo>
                    <a:pt x="0" y="126263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95532" r="0" b="-195532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19050"/>
              <a:ext cx="15910560" cy="12816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539"/>
                </a:lnSpc>
              </a:pPr>
              <a:r>
                <a:rPr lang="en-US" sz="2949" b="true">
                  <a:solidFill>
                    <a:srgbClr val="111111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RakshakAI – Predictive Personnel Stress &amp; Welfare Monitoring System</a:t>
              </a: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1028700" y="6168047"/>
            <a:ext cx="2866709" cy="2866709"/>
          </a:xfrm>
          <a:custGeom>
            <a:avLst/>
            <a:gdLst/>
            <a:ahLst/>
            <a:cxnLst/>
            <a:rect r="r" b="b" t="t" l="l"/>
            <a:pathLst>
              <a:path h="2866709" w="2866709">
                <a:moveTo>
                  <a:pt x="0" y="0"/>
                </a:moveTo>
                <a:lnTo>
                  <a:pt x="2866709" y="0"/>
                </a:lnTo>
                <a:lnTo>
                  <a:pt x="2866709" y="2866709"/>
                </a:lnTo>
                <a:lnTo>
                  <a:pt x="0" y="286670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4548526" y="6168047"/>
            <a:ext cx="2866709" cy="2866709"/>
          </a:xfrm>
          <a:custGeom>
            <a:avLst/>
            <a:gdLst/>
            <a:ahLst/>
            <a:cxnLst/>
            <a:rect r="r" b="b" t="t" l="l"/>
            <a:pathLst>
              <a:path h="2866709" w="2866709">
                <a:moveTo>
                  <a:pt x="0" y="0"/>
                </a:moveTo>
                <a:lnTo>
                  <a:pt x="2866709" y="0"/>
                </a:lnTo>
                <a:lnTo>
                  <a:pt x="2866709" y="2866709"/>
                </a:lnTo>
                <a:lnTo>
                  <a:pt x="0" y="286670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8072460" y="6168047"/>
            <a:ext cx="2866709" cy="2866709"/>
          </a:xfrm>
          <a:custGeom>
            <a:avLst/>
            <a:gdLst/>
            <a:ahLst/>
            <a:cxnLst/>
            <a:rect r="r" b="b" t="t" l="l"/>
            <a:pathLst>
              <a:path h="2866709" w="2866709">
                <a:moveTo>
                  <a:pt x="0" y="0"/>
                </a:moveTo>
                <a:lnTo>
                  <a:pt x="2866709" y="0"/>
                </a:lnTo>
                <a:lnTo>
                  <a:pt x="2866709" y="2866709"/>
                </a:lnTo>
                <a:lnTo>
                  <a:pt x="0" y="286670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1596394" y="6168047"/>
            <a:ext cx="2866709" cy="2866709"/>
          </a:xfrm>
          <a:custGeom>
            <a:avLst/>
            <a:gdLst/>
            <a:ahLst/>
            <a:cxnLst/>
            <a:rect r="r" b="b" t="t" l="l"/>
            <a:pathLst>
              <a:path h="2866709" w="2866709">
                <a:moveTo>
                  <a:pt x="0" y="0"/>
                </a:moveTo>
                <a:lnTo>
                  <a:pt x="2866709" y="0"/>
                </a:lnTo>
                <a:lnTo>
                  <a:pt x="2866709" y="2866709"/>
                </a:lnTo>
                <a:lnTo>
                  <a:pt x="0" y="286670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5007789" y="6168047"/>
            <a:ext cx="2866709" cy="2866709"/>
          </a:xfrm>
          <a:custGeom>
            <a:avLst/>
            <a:gdLst/>
            <a:ahLst/>
            <a:cxnLst/>
            <a:rect r="r" b="b" t="t" l="l"/>
            <a:pathLst>
              <a:path h="2866709" w="2866709">
                <a:moveTo>
                  <a:pt x="0" y="0"/>
                </a:moveTo>
                <a:lnTo>
                  <a:pt x="2866709" y="0"/>
                </a:lnTo>
                <a:lnTo>
                  <a:pt x="2866709" y="2866709"/>
                </a:lnTo>
                <a:lnTo>
                  <a:pt x="0" y="286670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3" id="23"/>
          <p:cNvGrpSpPr/>
          <p:nvPr/>
        </p:nvGrpSpPr>
        <p:grpSpPr>
          <a:xfrm rot="0">
            <a:off x="1028700" y="3034096"/>
            <a:ext cx="2866709" cy="2961237"/>
            <a:chOff x="0" y="0"/>
            <a:chExt cx="3822279" cy="3948316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3822279" cy="3822279"/>
            </a:xfrm>
            <a:custGeom>
              <a:avLst/>
              <a:gdLst/>
              <a:ahLst/>
              <a:cxnLst/>
              <a:rect r="r" b="b" t="t" l="l"/>
              <a:pathLst>
                <a:path h="3822279" w="3822279">
                  <a:moveTo>
                    <a:pt x="0" y="0"/>
                  </a:moveTo>
                  <a:lnTo>
                    <a:pt x="3822279" y="0"/>
                  </a:lnTo>
                  <a:lnTo>
                    <a:pt x="3822279" y="3822279"/>
                  </a:lnTo>
                  <a:lnTo>
                    <a:pt x="0" y="38222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 rot="0">
              <a:off x="129542" y="90528"/>
              <a:ext cx="3616537" cy="385778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38"/>
                </a:lnSpc>
              </a:pPr>
              <a:r>
                <a:rPr lang="en-US" sz="2027" spc="10">
                  <a:solidFill>
                    <a:srgbClr val="111111"/>
                  </a:solidFill>
                  <a:latin typeface="Norwester"/>
                  <a:ea typeface="Norwester"/>
                  <a:cs typeface="Norwester"/>
                  <a:sym typeface="Norwester"/>
                </a:rPr>
                <a:t>Behavioral Risk Analytics</a:t>
              </a:r>
            </a:p>
            <a:p>
              <a:pPr algn="ctr">
                <a:lnSpc>
                  <a:spcPts val="2270"/>
                </a:lnSpc>
              </a:pPr>
              <a:r>
                <a:rPr lang="en-US" b="true" sz="1621">
                  <a:solidFill>
                    <a:srgbClr val="000000"/>
                  </a:solidFill>
                  <a:latin typeface="Canva Sans 1 Bold"/>
                  <a:ea typeface="Canva Sans 1 Bold"/>
                  <a:cs typeface="Canva Sans 1 Bold"/>
                  <a:sym typeface="Canva Sans 1 Bold"/>
                </a:rPr>
                <a:t>Uses deployment history, leave utilization, duty schedules, transfer frequency, and workload patterns to identify early indicators of stress, fatigue, and burnout.</a:t>
              </a:r>
            </a:p>
            <a:p>
              <a:pPr algn="ctr">
                <a:lnSpc>
                  <a:spcPts val="1610"/>
                </a:lnSpc>
              </a:pP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1191261" y="6169990"/>
            <a:ext cx="2541587" cy="29809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42"/>
              </a:lnSpc>
            </a:pPr>
            <a:r>
              <a:rPr lang="en-US" sz="1887" spc="9">
                <a:solidFill>
                  <a:srgbClr val="111111"/>
                </a:solidFill>
                <a:latin typeface="Norwester"/>
                <a:ea typeface="Norwester"/>
                <a:cs typeface="Norwester"/>
                <a:sym typeface="Norwester"/>
              </a:rPr>
              <a:t>Personnel Wellness App</a:t>
            </a:r>
          </a:p>
          <a:p>
            <a:pPr algn="ctr">
              <a:lnSpc>
                <a:spcPts val="2111"/>
              </a:lnSpc>
            </a:pPr>
            <a:r>
              <a:rPr lang="en-US" b="true" sz="1508" spc="7">
                <a:solidFill>
                  <a:srgbClr val="111111"/>
                </a:solidFill>
                <a:latin typeface="Canva Sans 2 Bold"/>
                <a:ea typeface="Canva Sans 2 Bold"/>
                <a:cs typeface="Canva Sans 2 Bold"/>
                <a:sym typeface="Canva Sans 2 Bold"/>
              </a:rPr>
              <a:t>Allow</a:t>
            </a:r>
            <a:r>
              <a:rPr lang="en-US" b="true" sz="1508" spc="7">
                <a:solidFill>
                  <a:srgbClr val="111111"/>
                </a:solidFill>
                <a:latin typeface="Canva Sans 2 Bold"/>
                <a:ea typeface="Canva Sans 2 Bold"/>
                <a:cs typeface="Canva Sans 2 Bold"/>
                <a:sym typeface="Canva Sans 2 Bold"/>
              </a:rPr>
              <a:t>s personnel to complete wellness self-assessments, track wellness trends, receive AI-generated recommendations, and request support confidentially.</a:t>
            </a:r>
          </a:p>
          <a:p>
            <a:pPr algn="ctr">
              <a:lnSpc>
                <a:spcPts val="1499"/>
              </a:lnSpc>
            </a:pPr>
          </a:p>
        </p:txBody>
      </p:sp>
      <p:sp>
        <p:nvSpPr>
          <p:cNvPr name="TextBox 27" id="27"/>
          <p:cNvSpPr txBox="true"/>
          <p:nvPr/>
        </p:nvSpPr>
        <p:spPr>
          <a:xfrm rot="0">
            <a:off x="4711087" y="6198565"/>
            <a:ext cx="2541587" cy="28103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42"/>
              </a:lnSpc>
            </a:pPr>
            <a:r>
              <a:rPr lang="en-US" sz="1887" spc="9">
                <a:solidFill>
                  <a:srgbClr val="111111"/>
                </a:solidFill>
                <a:latin typeface="Norwester"/>
                <a:ea typeface="Norwester"/>
                <a:cs typeface="Norwester"/>
                <a:sym typeface="Norwester"/>
              </a:rPr>
              <a:t>Digital Welfare Twin</a:t>
            </a:r>
          </a:p>
          <a:p>
            <a:pPr algn="ctr">
              <a:lnSpc>
                <a:spcPts val="2268"/>
              </a:lnSpc>
            </a:pPr>
            <a:r>
              <a:rPr lang="en-US" b="true" sz="1620" spc="8">
                <a:solidFill>
                  <a:srgbClr val="111111"/>
                </a:solidFill>
                <a:latin typeface="Canva Sans 2 Bold"/>
                <a:ea typeface="Canva Sans 2 Bold"/>
                <a:cs typeface="Canva Sans 2 Bold"/>
                <a:sym typeface="Canva Sans 2 Bold"/>
              </a:rPr>
              <a:t>Creates a dynamic wellness profil</a:t>
            </a:r>
            <a:r>
              <a:rPr lang="en-US" b="true" sz="1620" spc="8">
                <a:solidFill>
                  <a:srgbClr val="111111"/>
                </a:solidFill>
                <a:latin typeface="Canva Sans 2 Bold"/>
                <a:ea typeface="Canva Sans 2 Bold"/>
                <a:cs typeface="Canva Sans 2 Bold"/>
                <a:sym typeface="Canva Sans 2 Bold"/>
              </a:rPr>
              <a:t>e by continuously combining operational data, wellness assessments, and behavioral indicators for each personnel.</a:t>
            </a:r>
          </a:p>
          <a:p>
            <a:pPr algn="ctr">
              <a:lnSpc>
                <a:spcPts val="1499"/>
              </a:lnSpc>
            </a:pPr>
          </a:p>
        </p:txBody>
      </p:sp>
      <p:sp>
        <p:nvSpPr>
          <p:cNvPr name="TextBox 28" id="28"/>
          <p:cNvSpPr txBox="true"/>
          <p:nvPr/>
        </p:nvSpPr>
        <p:spPr>
          <a:xfrm rot="0">
            <a:off x="8230913" y="6227140"/>
            <a:ext cx="2541587" cy="28580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42"/>
              </a:lnSpc>
            </a:pPr>
            <a:r>
              <a:rPr lang="en-US" sz="1887" spc="9">
                <a:solidFill>
                  <a:srgbClr val="111111"/>
                </a:solidFill>
                <a:latin typeface="Norwester"/>
                <a:ea typeface="Norwester"/>
                <a:cs typeface="Norwester"/>
                <a:sym typeface="Norwester"/>
              </a:rPr>
              <a:t>AI Risk Prediction Engine</a:t>
            </a:r>
          </a:p>
          <a:p>
            <a:pPr algn="ctr">
              <a:lnSpc>
                <a:spcPts val="2268"/>
              </a:lnSpc>
            </a:pPr>
            <a:r>
              <a:rPr lang="en-US" b="true" sz="1620" spc="8">
                <a:solidFill>
                  <a:srgbClr val="111111"/>
                </a:solidFill>
                <a:latin typeface="Canva Sans 2 Bold"/>
                <a:ea typeface="Canva Sans 2 Bold"/>
                <a:cs typeface="Canva Sans 2 Bold"/>
                <a:sym typeface="Canva Sans 2 Bold"/>
              </a:rPr>
              <a:t>Applies explainable AI and rul</a:t>
            </a:r>
            <a:r>
              <a:rPr lang="en-US" b="true" sz="1620" spc="8">
                <a:solidFill>
                  <a:srgbClr val="111111"/>
                </a:solidFill>
                <a:latin typeface="Canva Sans 2 Bold"/>
                <a:ea typeface="Canva Sans 2 Bold"/>
                <a:cs typeface="Canva Sans 2 Bold"/>
                <a:sym typeface="Canva Sans 2 Bold"/>
              </a:rPr>
              <a:t>e-based analytics to detect stress patterns, burnout risks, fatigue trends, and welfare concerns before escalation.</a:t>
            </a:r>
          </a:p>
          <a:p>
            <a:pPr algn="ctr">
              <a:lnSpc>
                <a:spcPts val="1499"/>
              </a:lnSpc>
            </a:pPr>
          </a:p>
        </p:txBody>
      </p:sp>
      <p:sp>
        <p:nvSpPr>
          <p:cNvPr name="TextBox 29" id="29"/>
          <p:cNvSpPr txBox="true"/>
          <p:nvPr/>
        </p:nvSpPr>
        <p:spPr>
          <a:xfrm rot="0">
            <a:off x="11750739" y="6227140"/>
            <a:ext cx="2541587" cy="28580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42"/>
              </a:lnSpc>
            </a:pPr>
            <a:r>
              <a:rPr lang="en-US" sz="1887" spc="9">
                <a:solidFill>
                  <a:srgbClr val="111111"/>
                </a:solidFill>
                <a:latin typeface="Norwester"/>
                <a:ea typeface="Norwester"/>
                <a:cs typeface="Norwester"/>
                <a:sym typeface="Norwester"/>
              </a:rPr>
              <a:t>Welfare Intervention </a:t>
            </a:r>
            <a:r>
              <a:rPr lang="en-US" sz="1887" spc="9">
                <a:solidFill>
                  <a:srgbClr val="111111"/>
                </a:solidFill>
                <a:latin typeface="Norwester"/>
                <a:ea typeface="Norwester"/>
                <a:cs typeface="Norwester"/>
                <a:sym typeface="Norwester"/>
              </a:rPr>
              <a:t>C</a:t>
            </a:r>
            <a:r>
              <a:rPr lang="en-US" sz="1887" spc="9">
                <a:solidFill>
                  <a:srgbClr val="111111"/>
                </a:solidFill>
                <a:latin typeface="Norwester"/>
                <a:ea typeface="Norwester"/>
                <a:cs typeface="Norwester"/>
                <a:sym typeface="Norwester"/>
              </a:rPr>
              <a:t>ente</a:t>
            </a:r>
            <a:r>
              <a:rPr lang="en-US" sz="1887" spc="9">
                <a:solidFill>
                  <a:srgbClr val="111111"/>
                </a:solidFill>
                <a:latin typeface="Norwester"/>
                <a:ea typeface="Norwester"/>
                <a:cs typeface="Norwester"/>
                <a:sym typeface="Norwester"/>
              </a:rPr>
              <a:t>r</a:t>
            </a:r>
          </a:p>
          <a:p>
            <a:pPr algn="ctr">
              <a:lnSpc>
                <a:spcPts val="2268"/>
              </a:lnSpc>
            </a:pPr>
            <a:r>
              <a:rPr lang="en-US" b="true" sz="1620" spc="8">
                <a:solidFill>
                  <a:srgbClr val="111111"/>
                </a:solidFill>
                <a:latin typeface="Canva Sans 2 Bold"/>
                <a:ea typeface="Canva Sans 2 Bold"/>
                <a:cs typeface="Canva Sans 2 Bold"/>
                <a:sym typeface="Canva Sans 2 Bold"/>
              </a:rPr>
              <a:t>Enables welfare officers to review high-risk cases, validat</a:t>
            </a:r>
            <a:r>
              <a:rPr lang="en-US" b="true" sz="1620" spc="8">
                <a:solidFill>
                  <a:srgbClr val="111111"/>
                </a:solidFill>
                <a:latin typeface="Canva Sans 2 Bold"/>
                <a:ea typeface="Canva Sans 2 Bold"/>
                <a:cs typeface="Canva Sans 2 Bold"/>
                <a:sym typeface="Canva Sans 2 Bold"/>
              </a:rPr>
              <a:t>e AI findings, coordinate support actions, schedule follow-ups, and monitor intervention outcomes.</a:t>
            </a:r>
          </a:p>
          <a:p>
            <a:pPr algn="ctr">
              <a:lnSpc>
                <a:spcPts val="1499"/>
              </a:lnSpc>
            </a:pPr>
          </a:p>
        </p:txBody>
      </p:sp>
      <p:sp>
        <p:nvSpPr>
          <p:cNvPr name="TextBox 30" id="30"/>
          <p:cNvSpPr txBox="true"/>
          <p:nvPr/>
        </p:nvSpPr>
        <p:spPr>
          <a:xfrm rot="0">
            <a:off x="15120328" y="6208090"/>
            <a:ext cx="2691824" cy="29587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93"/>
              </a:lnSpc>
            </a:pPr>
            <a:r>
              <a:rPr lang="en-US" sz="1780" spc="8">
                <a:solidFill>
                  <a:srgbClr val="111111"/>
                </a:solidFill>
                <a:latin typeface="Norwester"/>
                <a:ea typeface="Norwester"/>
                <a:cs typeface="Norwester"/>
                <a:sym typeface="Norwester"/>
              </a:rPr>
              <a:t>Commander R</a:t>
            </a:r>
            <a:r>
              <a:rPr lang="en-US" sz="1780" spc="8">
                <a:solidFill>
                  <a:srgbClr val="111111"/>
                </a:solidFill>
                <a:latin typeface="Norwester"/>
                <a:ea typeface="Norwester"/>
                <a:cs typeface="Norwester"/>
                <a:sym typeface="Norwester"/>
              </a:rPr>
              <a:t>ea</a:t>
            </a:r>
            <a:r>
              <a:rPr lang="en-US" sz="1780" spc="8">
                <a:solidFill>
                  <a:srgbClr val="111111"/>
                </a:solidFill>
                <a:latin typeface="Norwester"/>
                <a:ea typeface="Norwester"/>
                <a:cs typeface="Norwester"/>
                <a:sym typeface="Norwester"/>
              </a:rPr>
              <a:t>din</a:t>
            </a:r>
            <a:r>
              <a:rPr lang="en-US" sz="1780" spc="8">
                <a:solidFill>
                  <a:srgbClr val="111111"/>
                </a:solidFill>
                <a:latin typeface="Norwester"/>
                <a:ea typeface="Norwester"/>
                <a:cs typeface="Norwester"/>
                <a:sym typeface="Norwester"/>
              </a:rPr>
              <a:t>es</a:t>
            </a:r>
            <a:r>
              <a:rPr lang="en-US" sz="1780" spc="8">
                <a:solidFill>
                  <a:srgbClr val="111111"/>
                </a:solidFill>
                <a:latin typeface="Norwester"/>
                <a:ea typeface="Norwester"/>
                <a:cs typeface="Norwester"/>
                <a:sym typeface="Norwester"/>
              </a:rPr>
              <a:t>s</a:t>
            </a:r>
            <a:r>
              <a:rPr lang="en-US" sz="1780" spc="8">
                <a:solidFill>
                  <a:srgbClr val="111111"/>
                </a:solidFill>
                <a:latin typeface="Norwester"/>
                <a:ea typeface="Norwester"/>
                <a:cs typeface="Norwester"/>
                <a:sym typeface="Norwester"/>
              </a:rPr>
              <a:t> </a:t>
            </a:r>
            <a:r>
              <a:rPr lang="en-US" sz="1780" spc="8">
                <a:solidFill>
                  <a:srgbClr val="111111"/>
                </a:solidFill>
                <a:latin typeface="Norwester"/>
                <a:ea typeface="Norwester"/>
                <a:cs typeface="Norwester"/>
                <a:sym typeface="Norwester"/>
              </a:rPr>
              <a:t>D</a:t>
            </a:r>
            <a:r>
              <a:rPr lang="en-US" sz="1780" spc="8">
                <a:solidFill>
                  <a:srgbClr val="111111"/>
                </a:solidFill>
                <a:latin typeface="Norwester"/>
                <a:ea typeface="Norwester"/>
                <a:cs typeface="Norwester"/>
                <a:sym typeface="Norwester"/>
              </a:rPr>
              <a:t>a</a:t>
            </a:r>
            <a:r>
              <a:rPr lang="en-US" sz="1780" spc="8">
                <a:solidFill>
                  <a:srgbClr val="111111"/>
                </a:solidFill>
                <a:latin typeface="Norwester"/>
                <a:ea typeface="Norwester"/>
                <a:cs typeface="Norwester"/>
                <a:sym typeface="Norwester"/>
              </a:rPr>
              <a:t>shboar</a:t>
            </a:r>
            <a:r>
              <a:rPr lang="en-US" sz="1780" spc="8">
                <a:solidFill>
                  <a:srgbClr val="111111"/>
                </a:solidFill>
                <a:latin typeface="Norwester"/>
                <a:ea typeface="Norwester"/>
                <a:cs typeface="Norwester"/>
                <a:sym typeface="Norwester"/>
              </a:rPr>
              <a:t>d</a:t>
            </a:r>
          </a:p>
          <a:p>
            <a:pPr algn="ctr">
              <a:lnSpc>
                <a:spcPts val="2139"/>
              </a:lnSpc>
            </a:pPr>
            <a:r>
              <a:rPr lang="en-US" b="true" sz="1528" spc="7">
                <a:solidFill>
                  <a:srgbClr val="111111"/>
                </a:solidFill>
                <a:latin typeface="Canva Sans 2 Bold"/>
                <a:ea typeface="Canva Sans 2 Bold"/>
                <a:cs typeface="Canva Sans 2 Bold"/>
                <a:sym typeface="Canva Sans 2 Bold"/>
              </a:rPr>
              <a:t>Provides unit-level wellness tr</a:t>
            </a:r>
            <a:r>
              <a:rPr lang="en-US" b="true" sz="1528" spc="7">
                <a:solidFill>
                  <a:srgbClr val="111111"/>
                </a:solidFill>
                <a:latin typeface="Canva Sans 2 Bold"/>
                <a:ea typeface="Canva Sans 2 Bold"/>
                <a:cs typeface="Canva Sans 2 Bold"/>
                <a:sym typeface="Canva Sans 2 Bold"/>
              </a:rPr>
              <a:t>ends, operational readiness insights, workload distribution analytics, and workforce resilience indicators without exposing sensitive personal data.</a:t>
            </a:r>
          </a:p>
          <a:p>
            <a:pPr algn="ctr">
              <a:lnSpc>
                <a:spcPts val="1414"/>
              </a:lnSpc>
            </a:pPr>
          </a:p>
        </p:txBody>
      </p:sp>
      <p:grpSp>
        <p:nvGrpSpPr>
          <p:cNvPr name="Group 31" id="31"/>
          <p:cNvGrpSpPr/>
          <p:nvPr/>
        </p:nvGrpSpPr>
        <p:grpSpPr>
          <a:xfrm rot="0">
            <a:off x="15007789" y="3034096"/>
            <a:ext cx="2866709" cy="3037949"/>
            <a:chOff x="0" y="0"/>
            <a:chExt cx="3822279" cy="4050598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3822279" cy="3822279"/>
            </a:xfrm>
            <a:custGeom>
              <a:avLst/>
              <a:gdLst/>
              <a:ahLst/>
              <a:cxnLst/>
              <a:rect r="r" b="b" t="t" l="l"/>
              <a:pathLst>
                <a:path h="3822279" w="3822279">
                  <a:moveTo>
                    <a:pt x="0" y="0"/>
                  </a:moveTo>
                  <a:lnTo>
                    <a:pt x="3822279" y="0"/>
                  </a:lnTo>
                  <a:lnTo>
                    <a:pt x="3822279" y="3822279"/>
                  </a:lnTo>
                  <a:lnTo>
                    <a:pt x="0" y="38222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 rot="0">
              <a:off x="37693" y="27028"/>
              <a:ext cx="3746893" cy="402357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442"/>
                </a:lnSpc>
              </a:pPr>
              <a:r>
                <a:rPr lang="en-US" sz="1744" spc="8">
                  <a:solidFill>
                    <a:srgbClr val="111111"/>
                  </a:solidFill>
                  <a:latin typeface="Norwester"/>
                  <a:ea typeface="Norwester"/>
                  <a:cs typeface="Norwester"/>
                  <a:sym typeface="Norwester"/>
                </a:rPr>
                <a:t>Privacy &amp; Security Fr</a:t>
              </a:r>
              <a:r>
                <a:rPr lang="en-US" sz="1744" spc="8">
                  <a:solidFill>
                    <a:srgbClr val="111111"/>
                  </a:solidFill>
                  <a:latin typeface="Norwester"/>
                  <a:ea typeface="Norwester"/>
                  <a:cs typeface="Norwester"/>
                  <a:sym typeface="Norwester"/>
                </a:rPr>
                <a:t>amew</a:t>
              </a:r>
              <a:r>
                <a:rPr lang="en-US" sz="1744" spc="8">
                  <a:solidFill>
                    <a:srgbClr val="111111"/>
                  </a:solidFill>
                  <a:latin typeface="Norwester"/>
                  <a:ea typeface="Norwester"/>
                  <a:cs typeface="Norwester"/>
                  <a:sym typeface="Norwester"/>
                </a:rPr>
                <a:t>ork</a:t>
              </a:r>
            </a:p>
            <a:p>
              <a:pPr algn="ctr">
                <a:lnSpc>
                  <a:spcPts val="2222"/>
                </a:lnSpc>
              </a:pPr>
              <a:r>
                <a:rPr lang="en-US" b="true" sz="1587" spc="7">
                  <a:solidFill>
                    <a:srgbClr val="111111"/>
                  </a:solidFill>
                  <a:latin typeface="Canva Sans 2 Bold"/>
                  <a:ea typeface="Canva Sans 2 Bold"/>
                  <a:cs typeface="Canva Sans 2 Bold"/>
                  <a:sym typeface="Canva Sans 2 Bold"/>
                </a:rPr>
                <a:t>Impl</a:t>
              </a:r>
              <a:r>
                <a:rPr lang="en-US" b="true" sz="1587" spc="7">
                  <a:solidFill>
                    <a:srgbClr val="111111"/>
                  </a:solidFill>
                  <a:latin typeface="Canva Sans 2 Bold"/>
                  <a:ea typeface="Canva Sans 2 Bold"/>
                  <a:cs typeface="Canva Sans 2 Bold"/>
                  <a:sym typeface="Canva Sans 2 Bold"/>
                </a:rPr>
                <a:t>ements role-based access control</a:t>
              </a:r>
              <a:r>
                <a:rPr lang="en-US" b="true" sz="1587" spc="7">
                  <a:solidFill>
                    <a:srgbClr val="111111"/>
                  </a:solidFill>
                  <a:latin typeface="Canva Sans 2 Bold"/>
                  <a:ea typeface="Canva Sans 2 Bold"/>
                  <a:cs typeface="Canva Sans 2 Bold"/>
                  <a:sym typeface="Canva Sans 2 Bold"/>
                </a:rPr>
                <a:t>, consent management, data anonymization, encryption, audit logs, and privacy-preserving analytics to ensure trust and confidentiality.</a:t>
              </a:r>
            </a:p>
            <a:p>
              <a:pPr algn="ctr">
                <a:lnSpc>
                  <a:spcPts val="1385"/>
                </a:lnSpc>
              </a:pP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245993" y="36871"/>
            <a:ext cx="1774831" cy="1774831"/>
            <a:chOff x="0" y="0"/>
            <a:chExt cx="2245728" cy="2245728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245741" cy="2245741"/>
            </a:xfrm>
            <a:custGeom>
              <a:avLst/>
              <a:gdLst/>
              <a:ahLst/>
              <a:cxnLst/>
              <a:rect r="r" b="b" t="t" l="l"/>
              <a:pathLst>
                <a:path h="2245741" w="2245741">
                  <a:moveTo>
                    <a:pt x="0" y="0"/>
                  </a:moveTo>
                  <a:lnTo>
                    <a:pt x="2245741" y="0"/>
                  </a:lnTo>
                  <a:lnTo>
                    <a:pt x="2245741" y="2245741"/>
                  </a:lnTo>
                  <a:lnTo>
                    <a:pt x="0" y="22457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4428523" y="1878877"/>
            <a:ext cx="8938058" cy="4338738"/>
            <a:chOff x="0" y="0"/>
            <a:chExt cx="11917411" cy="5784984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1917411" cy="5784984"/>
            </a:xfrm>
            <a:custGeom>
              <a:avLst/>
              <a:gdLst/>
              <a:ahLst/>
              <a:cxnLst/>
              <a:rect r="r" b="b" t="t" l="l"/>
              <a:pathLst>
                <a:path h="5784984" w="11917411">
                  <a:moveTo>
                    <a:pt x="0" y="0"/>
                  </a:moveTo>
                  <a:lnTo>
                    <a:pt x="11917411" y="0"/>
                  </a:lnTo>
                  <a:lnTo>
                    <a:pt x="11917411" y="5784984"/>
                  </a:lnTo>
                  <a:lnTo>
                    <a:pt x="0" y="57849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1501" r="0" b="-1501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 rot="0">
              <a:off x="1479852" y="323347"/>
              <a:ext cx="1636818" cy="2984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711"/>
                </a:lnSpc>
                <a:spcBef>
                  <a:spcPct val="0"/>
                </a:spcBef>
              </a:pPr>
              <a:r>
                <a:rPr lang="en-US" b="true" sz="1426">
                  <a:solidFill>
                    <a:srgbClr val="0070C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HRMS DATA</a:t>
              </a:r>
            </a:p>
          </p:txBody>
        </p:sp>
        <p:sp>
          <p:nvSpPr>
            <p:cNvPr name="TextBox 39" id="39"/>
            <p:cNvSpPr txBox="true"/>
            <p:nvPr/>
          </p:nvSpPr>
          <p:spPr>
            <a:xfrm rot="0">
              <a:off x="5466479" y="244784"/>
              <a:ext cx="1767650" cy="28015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591"/>
                </a:lnSpc>
                <a:spcBef>
                  <a:spcPct val="0"/>
                </a:spcBef>
              </a:pPr>
              <a:r>
                <a:rPr lang="en-US" b="true" sz="1326">
                  <a:solidFill>
                    <a:srgbClr val="0D9C76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WELLNESS APP</a:t>
              </a:r>
            </a:p>
          </p:txBody>
        </p:sp>
        <p:sp>
          <p:nvSpPr>
            <p:cNvPr name="TextBox 40" id="40"/>
            <p:cNvSpPr txBox="true"/>
            <p:nvPr/>
          </p:nvSpPr>
          <p:spPr>
            <a:xfrm rot="0">
              <a:off x="9091117" y="177508"/>
              <a:ext cx="2408668" cy="5270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512"/>
                </a:lnSpc>
                <a:spcBef>
                  <a:spcPct val="0"/>
                </a:spcBef>
              </a:pPr>
              <a:r>
                <a:rPr lang="en-US" b="true" sz="1260">
                  <a:solidFill>
                    <a:srgbClr val="6C3DE3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OPTIONAL WEARABLES</a:t>
              </a:r>
            </a:p>
          </p:txBody>
        </p:sp>
        <p:sp>
          <p:nvSpPr>
            <p:cNvPr name="TextBox 41" id="41"/>
            <p:cNvSpPr txBox="true"/>
            <p:nvPr/>
          </p:nvSpPr>
          <p:spPr>
            <a:xfrm rot="0">
              <a:off x="4912706" y="1781354"/>
              <a:ext cx="2875197" cy="28015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591"/>
                </a:lnSpc>
                <a:spcBef>
                  <a:spcPct val="0"/>
                </a:spcBef>
              </a:pPr>
              <a:r>
                <a:rPr lang="en-US" b="true" sz="1326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DIGITAL WELFARE TWIN</a:t>
              </a:r>
            </a:p>
          </p:txBody>
        </p:sp>
        <p:sp>
          <p:nvSpPr>
            <p:cNvPr name="TextBox 42" id="42"/>
            <p:cNvSpPr txBox="true"/>
            <p:nvPr/>
          </p:nvSpPr>
          <p:spPr>
            <a:xfrm rot="0">
              <a:off x="4755352" y="3070088"/>
              <a:ext cx="3250525" cy="2717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512"/>
                </a:lnSpc>
                <a:spcBef>
                  <a:spcPct val="0"/>
                </a:spcBef>
              </a:pPr>
              <a:r>
                <a:rPr lang="en-US" b="true" sz="1260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AI RISK ASSESSMENT ENGINE</a:t>
              </a:r>
            </a:p>
          </p:txBody>
        </p:sp>
        <p:sp>
          <p:nvSpPr>
            <p:cNvPr name="TextBox 43" id="43"/>
            <p:cNvSpPr txBox="true"/>
            <p:nvPr/>
          </p:nvSpPr>
          <p:spPr>
            <a:xfrm rot="0">
              <a:off x="4659015" y="4451403"/>
              <a:ext cx="3598632" cy="23803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313"/>
                </a:lnSpc>
                <a:spcBef>
                  <a:spcPct val="0"/>
                </a:spcBef>
              </a:pPr>
              <a:r>
                <a:rPr lang="en-US" b="true" sz="1094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WELFARE INTELLIGENCE PLATFORM</a:t>
              </a:r>
            </a:p>
          </p:txBody>
        </p:sp>
        <p:sp>
          <p:nvSpPr>
            <p:cNvPr name="TextBox 44" id="44"/>
            <p:cNvSpPr txBox="true"/>
            <p:nvPr/>
          </p:nvSpPr>
          <p:spPr>
            <a:xfrm rot="0">
              <a:off x="1365118" y="704558"/>
              <a:ext cx="1866285" cy="5080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552"/>
                </a:lnSpc>
              </a:pPr>
              <a:r>
                <a:rPr lang="en-US" sz="1293">
                  <a:solidFill>
                    <a:srgbClr val="000000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Leave,Deployment,</a:t>
              </a:r>
            </a:p>
            <a:p>
              <a:pPr algn="ctr">
                <a:lnSpc>
                  <a:spcPts val="1552"/>
                </a:lnSpc>
                <a:spcBef>
                  <a:spcPct val="0"/>
                </a:spcBef>
              </a:pPr>
              <a:r>
                <a:rPr lang="en-US" sz="1293">
                  <a:solidFill>
                    <a:srgbClr val="000000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Duty,Transfers</a:t>
              </a:r>
            </a:p>
          </p:txBody>
        </p:sp>
        <p:sp>
          <p:nvSpPr>
            <p:cNvPr name="TextBox 45" id="45"/>
            <p:cNvSpPr txBox="true"/>
            <p:nvPr/>
          </p:nvSpPr>
          <p:spPr>
            <a:xfrm rot="0">
              <a:off x="5430444" y="621797"/>
              <a:ext cx="1900340" cy="5080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552"/>
                </a:lnSpc>
              </a:pPr>
              <a:r>
                <a:rPr lang="en-US" sz="1293">
                  <a:solidFill>
                    <a:srgbClr val="000000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Self Assessments,</a:t>
              </a:r>
            </a:p>
            <a:p>
              <a:pPr algn="ctr">
                <a:lnSpc>
                  <a:spcPts val="1552"/>
                </a:lnSpc>
                <a:spcBef>
                  <a:spcPct val="0"/>
                </a:spcBef>
              </a:pPr>
              <a:r>
                <a:rPr lang="en-US" sz="1293">
                  <a:solidFill>
                    <a:srgbClr val="000000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Feedback</a:t>
              </a:r>
            </a:p>
          </p:txBody>
        </p:sp>
        <p:sp>
          <p:nvSpPr>
            <p:cNvPr name="TextBox 46" id="46"/>
            <p:cNvSpPr txBox="true"/>
            <p:nvPr/>
          </p:nvSpPr>
          <p:spPr>
            <a:xfrm rot="0">
              <a:off x="9460485" y="704558"/>
              <a:ext cx="1669932" cy="482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439"/>
                </a:lnSpc>
              </a:pPr>
              <a:r>
                <a:rPr lang="en-US" sz="1199">
                  <a:solidFill>
                    <a:srgbClr val="000000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Sleep,Activity,</a:t>
              </a:r>
            </a:p>
            <a:p>
              <a:pPr algn="ctr">
                <a:lnSpc>
                  <a:spcPts val="1439"/>
                </a:lnSpc>
                <a:spcBef>
                  <a:spcPct val="0"/>
                </a:spcBef>
              </a:pPr>
              <a:r>
                <a:rPr lang="en-US" sz="1199">
                  <a:solidFill>
                    <a:srgbClr val="000000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Health Indicators</a:t>
              </a:r>
            </a:p>
          </p:txBody>
        </p:sp>
        <p:sp>
          <p:nvSpPr>
            <p:cNvPr name="TextBox 47" id="47"/>
            <p:cNvSpPr txBox="true"/>
            <p:nvPr/>
          </p:nvSpPr>
          <p:spPr>
            <a:xfrm rot="0">
              <a:off x="5062305" y="2120464"/>
              <a:ext cx="2395112" cy="4211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273"/>
                </a:lnSpc>
              </a:pPr>
              <a:r>
                <a:rPr lang="en-US" sz="1061">
                  <a:solidFill>
                    <a:srgbClr val="FFFFFF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Unfilled &amp; continuous wellness</a:t>
              </a:r>
            </a:p>
            <a:p>
              <a:pPr algn="ctr">
                <a:lnSpc>
                  <a:spcPts val="1273"/>
                </a:lnSpc>
                <a:spcBef>
                  <a:spcPct val="0"/>
                </a:spcBef>
              </a:pPr>
              <a:r>
                <a:rPr lang="en-US" sz="1061">
                  <a:solidFill>
                    <a:srgbClr val="FFFFFF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profile for each personnel</a:t>
              </a:r>
            </a:p>
          </p:txBody>
        </p:sp>
        <p:sp>
          <p:nvSpPr>
            <p:cNvPr name="TextBox 48" id="48"/>
            <p:cNvSpPr txBox="true"/>
            <p:nvPr/>
          </p:nvSpPr>
          <p:spPr>
            <a:xfrm rot="0">
              <a:off x="5259729" y="3400776"/>
              <a:ext cx="2000264" cy="4211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273"/>
                </a:lnSpc>
              </a:pPr>
              <a:r>
                <a:rPr lang="en-US" sz="1061">
                  <a:solidFill>
                    <a:srgbClr val="FFFFFF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Detects stress, fatigue &amp; </a:t>
              </a:r>
            </a:p>
            <a:p>
              <a:pPr algn="ctr">
                <a:lnSpc>
                  <a:spcPts val="1273"/>
                </a:lnSpc>
                <a:spcBef>
                  <a:spcPct val="0"/>
                </a:spcBef>
              </a:pPr>
              <a:r>
                <a:rPr lang="en-US" sz="1061">
                  <a:solidFill>
                    <a:srgbClr val="FFFFFF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welfare concerns</a:t>
              </a:r>
            </a:p>
          </p:txBody>
        </p:sp>
        <p:sp>
          <p:nvSpPr>
            <p:cNvPr name="TextBox 49" id="49"/>
            <p:cNvSpPr txBox="true"/>
            <p:nvPr/>
          </p:nvSpPr>
          <p:spPr>
            <a:xfrm rot="0">
              <a:off x="5135180" y="4773669"/>
              <a:ext cx="2249362" cy="4211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273"/>
                </a:lnSpc>
              </a:pPr>
              <a:r>
                <a:rPr lang="en-US" sz="1061">
                  <a:solidFill>
                    <a:srgbClr val="FFFFFF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Insights   Recommendations </a:t>
              </a:r>
            </a:p>
            <a:p>
              <a:pPr algn="ctr">
                <a:lnSpc>
                  <a:spcPts val="1273"/>
                </a:lnSpc>
                <a:spcBef>
                  <a:spcPct val="0"/>
                </a:spcBef>
              </a:pPr>
              <a:r>
                <a:rPr lang="en-US" sz="1061">
                  <a:solidFill>
                    <a:srgbClr val="FFFFFF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Intervention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532144"/>
            <a:ext cx="18288000" cy="754856"/>
            <a:chOff x="0" y="0"/>
            <a:chExt cx="24384000" cy="10064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4913550" y="36871"/>
            <a:ext cx="8460900" cy="1082018"/>
            <a:chOff x="0" y="0"/>
            <a:chExt cx="11281200" cy="144269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1281201" cy="1442690"/>
            </a:xfrm>
            <a:custGeom>
              <a:avLst/>
              <a:gdLst/>
              <a:ahLst/>
              <a:cxnLst/>
              <a:rect r="r" b="b" t="t" l="l"/>
              <a:pathLst>
                <a:path h="1442690" w="11281201">
                  <a:moveTo>
                    <a:pt x="0" y="0"/>
                  </a:moveTo>
                  <a:lnTo>
                    <a:pt x="11281201" y="0"/>
                  </a:lnTo>
                  <a:lnTo>
                    <a:pt x="11281201" y="1442690"/>
                  </a:lnTo>
                  <a:lnTo>
                    <a:pt x="0" y="144269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7171" r="-94532" b="-275625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11281200" cy="14712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sz="54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TECHNICAL APPROACH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5689600" cy="768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Trade Gothic Condensed Bold"/>
                  <a:ea typeface="Trade Gothic Condensed Bold"/>
                  <a:cs typeface="Trade Gothic Condensed Bold"/>
                  <a:sym typeface="Trade Gothic Condensed Bold"/>
                </a:rPr>
                <a:t>3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972300" y="9534525"/>
            <a:ext cx="4806001" cy="547688"/>
            <a:chOff x="0" y="0"/>
            <a:chExt cx="6408001" cy="7302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408000" cy="730250"/>
            </a:xfrm>
            <a:custGeom>
              <a:avLst/>
              <a:gdLst/>
              <a:ahLst/>
              <a:cxnLst/>
              <a:rect r="r" b="b" t="t" l="l"/>
              <a:pathLst>
                <a:path h="730250" w="640800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0982" r="0" b="-120982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6408001" cy="768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Trade Gothic Condensed"/>
                  <a:ea typeface="Trade Gothic Condensed"/>
                  <a:cs typeface="Trade Gothic Condensed"/>
                  <a:sym typeface="Trade Gothic Condensed"/>
                </a:rPr>
                <a:t>@SIH Idea submission- Template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4915420" y="2248"/>
            <a:ext cx="3129483" cy="1477682"/>
            <a:chOff x="0" y="0"/>
            <a:chExt cx="4499699" cy="212467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1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245993" y="36871"/>
            <a:ext cx="1774831" cy="1774831"/>
            <a:chOff x="0" y="0"/>
            <a:chExt cx="2245728" cy="224572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245741" cy="2245741"/>
            </a:xfrm>
            <a:custGeom>
              <a:avLst/>
              <a:gdLst/>
              <a:ahLst/>
              <a:cxnLst/>
              <a:rect r="r" b="b" t="t" l="l"/>
              <a:pathLst>
                <a:path h="2245741" w="2245741">
                  <a:moveTo>
                    <a:pt x="0" y="0"/>
                  </a:moveTo>
                  <a:lnTo>
                    <a:pt x="2245741" y="0"/>
                  </a:lnTo>
                  <a:lnTo>
                    <a:pt x="2245741" y="2245741"/>
                  </a:lnTo>
                  <a:lnTo>
                    <a:pt x="0" y="22457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Freeform 17" id="17"/>
          <p:cNvSpPr/>
          <p:nvPr/>
        </p:nvSpPr>
        <p:spPr>
          <a:xfrm flipH="false" flipV="false" rot="0">
            <a:off x="294645" y="1841224"/>
            <a:ext cx="8270586" cy="7229452"/>
          </a:xfrm>
          <a:custGeom>
            <a:avLst/>
            <a:gdLst/>
            <a:ahLst/>
            <a:cxnLst/>
            <a:rect r="r" b="b" t="t" l="l"/>
            <a:pathLst>
              <a:path h="7229452" w="8270586">
                <a:moveTo>
                  <a:pt x="0" y="0"/>
                </a:moveTo>
                <a:lnTo>
                  <a:pt x="8270587" y="0"/>
                </a:lnTo>
                <a:lnTo>
                  <a:pt x="8270587" y="7229452"/>
                </a:lnTo>
                <a:lnTo>
                  <a:pt x="0" y="722945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3308258" y="1666457"/>
            <a:ext cx="2129062" cy="1987979"/>
          </a:xfrm>
          <a:custGeom>
            <a:avLst/>
            <a:gdLst/>
            <a:ahLst/>
            <a:cxnLst/>
            <a:rect r="r" b="b" t="t" l="l"/>
            <a:pathLst>
              <a:path h="1987979" w="2129062">
                <a:moveTo>
                  <a:pt x="0" y="0"/>
                </a:moveTo>
                <a:lnTo>
                  <a:pt x="2129061" y="0"/>
                </a:lnTo>
                <a:lnTo>
                  <a:pt x="2129061" y="1987979"/>
                </a:lnTo>
                <a:lnTo>
                  <a:pt x="0" y="198797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5343896" y="2381153"/>
            <a:ext cx="2087806" cy="2087806"/>
          </a:xfrm>
          <a:custGeom>
            <a:avLst/>
            <a:gdLst/>
            <a:ahLst/>
            <a:cxnLst/>
            <a:rect r="r" b="b" t="t" l="l"/>
            <a:pathLst>
              <a:path h="2087806" w="2087806">
                <a:moveTo>
                  <a:pt x="0" y="0"/>
                </a:moveTo>
                <a:lnTo>
                  <a:pt x="2087807" y="0"/>
                </a:lnTo>
                <a:lnTo>
                  <a:pt x="2087807" y="2087807"/>
                </a:lnTo>
                <a:lnTo>
                  <a:pt x="0" y="208780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6108622" y="4449910"/>
            <a:ext cx="2228196" cy="2093967"/>
          </a:xfrm>
          <a:custGeom>
            <a:avLst/>
            <a:gdLst/>
            <a:ahLst/>
            <a:cxnLst/>
            <a:rect r="r" b="b" t="t" l="l"/>
            <a:pathLst>
              <a:path h="2093967" w="2228196">
                <a:moveTo>
                  <a:pt x="0" y="0"/>
                </a:moveTo>
                <a:lnTo>
                  <a:pt x="2228196" y="0"/>
                </a:lnTo>
                <a:lnTo>
                  <a:pt x="2228196" y="2093967"/>
                </a:lnTo>
                <a:lnTo>
                  <a:pt x="0" y="209396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5334371" y="6481040"/>
            <a:ext cx="2138432" cy="2138432"/>
          </a:xfrm>
          <a:custGeom>
            <a:avLst/>
            <a:gdLst/>
            <a:ahLst/>
            <a:cxnLst/>
            <a:rect r="r" b="b" t="t" l="l"/>
            <a:pathLst>
              <a:path h="2138432" w="2138432">
                <a:moveTo>
                  <a:pt x="0" y="0"/>
                </a:moveTo>
                <a:lnTo>
                  <a:pt x="2138432" y="0"/>
                </a:lnTo>
                <a:lnTo>
                  <a:pt x="2138432" y="2138432"/>
                </a:lnTo>
                <a:lnTo>
                  <a:pt x="0" y="213843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3300272" y="7140482"/>
            <a:ext cx="2130653" cy="2117818"/>
          </a:xfrm>
          <a:custGeom>
            <a:avLst/>
            <a:gdLst/>
            <a:ahLst/>
            <a:cxnLst/>
            <a:rect r="r" b="b" t="t" l="l"/>
            <a:pathLst>
              <a:path h="2117818" w="2130653">
                <a:moveTo>
                  <a:pt x="0" y="0"/>
                </a:moveTo>
                <a:lnTo>
                  <a:pt x="2130653" y="0"/>
                </a:lnTo>
                <a:lnTo>
                  <a:pt x="2130653" y="2117818"/>
                </a:lnTo>
                <a:lnTo>
                  <a:pt x="0" y="2117818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180852" y="6481040"/>
            <a:ext cx="2235024" cy="2087806"/>
          </a:xfrm>
          <a:custGeom>
            <a:avLst/>
            <a:gdLst/>
            <a:ahLst/>
            <a:cxnLst/>
            <a:rect r="r" b="b" t="t" l="l"/>
            <a:pathLst>
              <a:path h="2087806" w="2235024">
                <a:moveTo>
                  <a:pt x="0" y="0"/>
                </a:moveTo>
                <a:lnTo>
                  <a:pt x="2235024" y="0"/>
                </a:lnTo>
                <a:lnTo>
                  <a:pt x="2235024" y="2087807"/>
                </a:lnTo>
                <a:lnTo>
                  <a:pt x="0" y="2087807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394379" y="4449910"/>
            <a:ext cx="2228196" cy="2093967"/>
          </a:xfrm>
          <a:custGeom>
            <a:avLst/>
            <a:gdLst/>
            <a:ahLst/>
            <a:cxnLst/>
            <a:rect r="r" b="b" t="t" l="l"/>
            <a:pathLst>
              <a:path h="2093967" w="2228196">
                <a:moveTo>
                  <a:pt x="0" y="0"/>
                </a:moveTo>
                <a:lnTo>
                  <a:pt x="2228197" y="0"/>
                </a:lnTo>
                <a:lnTo>
                  <a:pt x="2228197" y="2093967"/>
                </a:lnTo>
                <a:lnTo>
                  <a:pt x="0" y="2093967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1171327" y="2362103"/>
            <a:ext cx="2235024" cy="2087806"/>
          </a:xfrm>
          <a:custGeom>
            <a:avLst/>
            <a:gdLst/>
            <a:ahLst/>
            <a:cxnLst/>
            <a:rect r="r" b="b" t="t" l="l"/>
            <a:pathLst>
              <a:path h="2087806" w="2235024">
                <a:moveTo>
                  <a:pt x="0" y="0"/>
                </a:moveTo>
                <a:lnTo>
                  <a:pt x="2235024" y="0"/>
                </a:lnTo>
                <a:lnTo>
                  <a:pt x="2235024" y="2087807"/>
                </a:lnTo>
                <a:lnTo>
                  <a:pt x="0" y="2087807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2868236" y="4098966"/>
            <a:ext cx="2854347" cy="2713969"/>
          </a:xfrm>
          <a:custGeom>
            <a:avLst/>
            <a:gdLst/>
            <a:ahLst/>
            <a:cxnLst/>
            <a:rect r="r" b="b" t="t" l="l"/>
            <a:pathLst>
              <a:path h="2713969" w="2854347">
                <a:moveTo>
                  <a:pt x="0" y="0"/>
                </a:moveTo>
                <a:lnTo>
                  <a:pt x="2854347" y="0"/>
                </a:lnTo>
                <a:lnTo>
                  <a:pt x="2854347" y="2713969"/>
                </a:lnTo>
                <a:lnTo>
                  <a:pt x="0" y="2713969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4166730" y="3759719"/>
            <a:ext cx="397737" cy="233963"/>
          </a:xfrm>
          <a:custGeom>
            <a:avLst/>
            <a:gdLst/>
            <a:ahLst/>
            <a:cxnLst/>
            <a:rect r="r" b="b" t="t" l="l"/>
            <a:pathLst>
              <a:path h="233963" w="397737">
                <a:moveTo>
                  <a:pt x="0" y="0"/>
                </a:moveTo>
                <a:lnTo>
                  <a:pt x="397737" y="0"/>
                </a:lnTo>
                <a:lnTo>
                  <a:pt x="397737" y="233963"/>
                </a:lnTo>
                <a:lnTo>
                  <a:pt x="0" y="233963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5324846" y="5221987"/>
            <a:ext cx="795474" cy="350944"/>
          </a:xfrm>
          <a:custGeom>
            <a:avLst/>
            <a:gdLst/>
            <a:ahLst/>
            <a:cxnLst/>
            <a:rect r="r" b="b" t="t" l="l"/>
            <a:pathLst>
              <a:path h="350944" w="795474">
                <a:moveTo>
                  <a:pt x="0" y="0"/>
                </a:moveTo>
                <a:lnTo>
                  <a:pt x="795474" y="0"/>
                </a:lnTo>
                <a:lnTo>
                  <a:pt x="795474" y="350944"/>
                </a:lnTo>
                <a:lnTo>
                  <a:pt x="0" y="350944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5324846" y="6461990"/>
            <a:ext cx="397737" cy="350944"/>
          </a:xfrm>
          <a:custGeom>
            <a:avLst/>
            <a:gdLst/>
            <a:ahLst/>
            <a:cxnLst/>
            <a:rect r="r" b="b" t="t" l="l"/>
            <a:pathLst>
              <a:path h="350944" w="397737">
                <a:moveTo>
                  <a:pt x="0" y="0"/>
                </a:moveTo>
                <a:lnTo>
                  <a:pt x="397737" y="0"/>
                </a:lnTo>
                <a:lnTo>
                  <a:pt x="397737" y="350945"/>
                </a:lnTo>
                <a:lnTo>
                  <a:pt x="0" y="350945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4166730" y="6918218"/>
            <a:ext cx="397737" cy="233963"/>
          </a:xfrm>
          <a:custGeom>
            <a:avLst/>
            <a:gdLst/>
            <a:ahLst/>
            <a:cxnLst/>
            <a:rect r="r" b="b" t="t" l="l"/>
            <a:pathLst>
              <a:path h="233963" w="397737">
                <a:moveTo>
                  <a:pt x="0" y="0"/>
                </a:moveTo>
                <a:lnTo>
                  <a:pt x="397737" y="0"/>
                </a:lnTo>
                <a:lnTo>
                  <a:pt x="397737" y="233963"/>
                </a:lnTo>
                <a:lnTo>
                  <a:pt x="0" y="233963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2996916" y="6461990"/>
            <a:ext cx="409435" cy="350944"/>
          </a:xfrm>
          <a:custGeom>
            <a:avLst/>
            <a:gdLst/>
            <a:ahLst/>
            <a:cxnLst/>
            <a:rect r="r" b="b" t="t" l="l"/>
            <a:pathLst>
              <a:path h="350944" w="409435">
                <a:moveTo>
                  <a:pt x="0" y="0"/>
                </a:moveTo>
                <a:lnTo>
                  <a:pt x="409435" y="0"/>
                </a:lnTo>
                <a:lnTo>
                  <a:pt x="409435" y="350945"/>
                </a:lnTo>
                <a:lnTo>
                  <a:pt x="0" y="350945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2610877" y="5221987"/>
            <a:ext cx="269057" cy="350944"/>
          </a:xfrm>
          <a:custGeom>
            <a:avLst/>
            <a:gdLst/>
            <a:ahLst/>
            <a:cxnLst/>
            <a:rect r="r" b="b" t="t" l="l"/>
            <a:pathLst>
              <a:path h="350944" w="269057">
                <a:moveTo>
                  <a:pt x="0" y="0"/>
                </a:moveTo>
                <a:lnTo>
                  <a:pt x="269058" y="0"/>
                </a:lnTo>
                <a:lnTo>
                  <a:pt x="269058" y="350944"/>
                </a:lnTo>
                <a:lnTo>
                  <a:pt x="0" y="350944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 l="0" t="0" r="0" b="0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0">
            <a:off x="2996916" y="4098966"/>
            <a:ext cx="409435" cy="350944"/>
          </a:xfrm>
          <a:custGeom>
            <a:avLst/>
            <a:gdLst/>
            <a:ahLst/>
            <a:cxnLst/>
            <a:rect r="r" b="b" t="t" l="l"/>
            <a:pathLst>
              <a:path h="350944" w="409435">
                <a:moveTo>
                  <a:pt x="0" y="0"/>
                </a:moveTo>
                <a:lnTo>
                  <a:pt x="409435" y="0"/>
                </a:lnTo>
                <a:lnTo>
                  <a:pt x="409435" y="350944"/>
                </a:lnTo>
                <a:lnTo>
                  <a:pt x="0" y="350944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 l="0" t="0" r="0" b="0"/>
            </a:stretch>
          </a:blipFill>
        </p:spPr>
      </p:sp>
      <p:sp>
        <p:nvSpPr>
          <p:cNvPr name="Freeform 34" id="34"/>
          <p:cNvSpPr/>
          <p:nvPr/>
        </p:nvSpPr>
        <p:spPr>
          <a:xfrm flipH="false" flipV="false" rot="0">
            <a:off x="3295038" y="4388006"/>
            <a:ext cx="2135887" cy="2135887"/>
          </a:xfrm>
          <a:custGeom>
            <a:avLst/>
            <a:gdLst/>
            <a:ahLst/>
            <a:cxnLst/>
            <a:rect r="r" b="b" t="t" l="l"/>
            <a:pathLst>
              <a:path h="2135887" w="2135887">
                <a:moveTo>
                  <a:pt x="0" y="0"/>
                </a:moveTo>
                <a:lnTo>
                  <a:pt x="2135887" y="0"/>
                </a:lnTo>
                <a:lnTo>
                  <a:pt x="2135887" y="2135888"/>
                </a:lnTo>
                <a:lnTo>
                  <a:pt x="0" y="2135888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 l="0" t="0" r="0" b="0"/>
            </a:stretch>
          </a:blipFill>
        </p:spPr>
      </p:sp>
      <p:grpSp>
        <p:nvGrpSpPr>
          <p:cNvPr name="Group 35" id="35"/>
          <p:cNvGrpSpPr/>
          <p:nvPr/>
        </p:nvGrpSpPr>
        <p:grpSpPr>
          <a:xfrm rot="0">
            <a:off x="3460643" y="5033459"/>
            <a:ext cx="1804676" cy="926870"/>
            <a:chOff x="0" y="0"/>
            <a:chExt cx="2123539" cy="1090636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2123539" cy="1090636"/>
            </a:xfrm>
            <a:custGeom>
              <a:avLst/>
              <a:gdLst/>
              <a:ahLst/>
              <a:cxnLst/>
              <a:rect r="r" b="b" t="t" l="l"/>
              <a:pathLst>
                <a:path h="1090636" w="2123539">
                  <a:moveTo>
                    <a:pt x="0" y="0"/>
                  </a:moveTo>
                  <a:lnTo>
                    <a:pt x="2123539" y="0"/>
                  </a:lnTo>
                  <a:lnTo>
                    <a:pt x="2123539" y="1090636"/>
                  </a:lnTo>
                  <a:lnTo>
                    <a:pt x="0" y="109063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48918" t="0" r="-95322" b="-85323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19050"/>
              <a:ext cx="2123539" cy="110968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18"/>
                </a:lnSpc>
              </a:pPr>
              <a:r>
                <a:rPr lang="en-US" b="true" sz="2599">
                  <a:solidFill>
                    <a:srgbClr val="111111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Tech-Stack</a:t>
              </a:r>
            </a:p>
            <a:p>
              <a:pPr algn="ctr">
                <a:lnSpc>
                  <a:spcPts val="3118"/>
                </a:lnSpc>
              </a:pPr>
              <a:r>
                <a:rPr lang="en-US" b="true" sz="2599">
                  <a:solidFill>
                    <a:srgbClr val="111111"/>
                  </a:solidFill>
                  <a:latin typeface="Arial Bold"/>
                  <a:ea typeface="Arial Bold"/>
                  <a:cs typeface="Arial Bold"/>
                  <a:sym typeface="Arial Bold"/>
                </a:rPr>
                <a:t>Flow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3604692" y="2021234"/>
            <a:ext cx="1536192" cy="1278433"/>
            <a:chOff x="0" y="0"/>
            <a:chExt cx="2048256" cy="1704578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2048256" cy="1704578"/>
            </a:xfrm>
            <a:custGeom>
              <a:avLst/>
              <a:gdLst/>
              <a:ahLst/>
              <a:cxnLst/>
              <a:rect r="r" b="b" t="t" l="l"/>
              <a:pathLst>
                <a:path h="1704578" w="2048256">
                  <a:moveTo>
                    <a:pt x="0" y="0"/>
                  </a:moveTo>
                  <a:lnTo>
                    <a:pt x="2048256" y="0"/>
                  </a:lnTo>
                  <a:lnTo>
                    <a:pt x="2048256" y="1704578"/>
                  </a:lnTo>
                  <a:lnTo>
                    <a:pt x="0" y="170457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4914" t="0" r="-74914" b="-16988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19050"/>
              <a:ext cx="2048256" cy="17236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19"/>
                </a:lnSpc>
              </a:pPr>
              <a:r>
                <a:rPr lang="en-US" sz="1599" b="true">
                  <a:solidFill>
                    <a:srgbClr val="083061"/>
                  </a:solidFill>
                  <a:latin typeface="Arial Bold"/>
                  <a:ea typeface="Arial Bold"/>
                  <a:cs typeface="Arial Bold"/>
                  <a:sym typeface="Arial Bold"/>
                </a:rPr>
                <a:t>1.</a:t>
              </a:r>
            </a:p>
            <a:p>
              <a:pPr algn="ctr">
                <a:lnSpc>
                  <a:spcPts val="1919"/>
                </a:lnSpc>
              </a:pPr>
              <a:r>
                <a:rPr lang="en-US" b="true" sz="1599">
                  <a:solidFill>
                    <a:srgbClr val="083061"/>
                  </a:solidFill>
                  <a:latin typeface="Arial Bold"/>
                  <a:ea typeface="Arial Bold"/>
                  <a:cs typeface="Arial Bold"/>
                  <a:sym typeface="Arial Bold"/>
                </a:rPr>
                <a:t>Mobile &amp; Web UI</a:t>
              </a:r>
            </a:p>
            <a:p>
              <a:pPr algn="ctr">
                <a:lnSpc>
                  <a:spcPts val="1919"/>
                </a:lnSpc>
              </a:pPr>
              <a:r>
                <a:rPr lang="en-US" b="true" sz="1599">
                  <a:solidFill>
                    <a:srgbClr val="083061"/>
                  </a:solidFill>
                  <a:latin typeface="Arial Bold"/>
                  <a:ea typeface="Arial Bold"/>
                  <a:cs typeface="Arial Bold"/>
                  <a:sym typeface="Arial Bold"/>
                </a:rPr>
                <a:t>(React / React Native)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5637344" y="2637502"/>
            <a:ext cx="1603016" cy="1495615"/>
            <a:chOff x="0" y="0"/>
            <a:chExt cx="2137355" cy="1994154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2137355" cy="1994154"/>
            </a:xfrm>
            <a:custGeom>
              <a:avLst/>
              <a:gdLst/>
              <a:ahLst/>
              <a:cxnLst/>
              <a:rect r="r" b="b" t="t" l="l"/>
              <a:pathLst>
                <a:path h="1994154" w="2137355">
                  <a:moveTo>
                    <a:pt x="0" y="0"/>
                  </a:moveTo>
                  <a:lnTo>
                    <a:pt x="2137355" y="0"/>
                  </a:lnTo>
                  <a:lnTo>
                    <a:pt x="2137355" y="1994154"/>
                  </a:lnTo>
                  <a:lnTo>
                    <a:pt x="0" y="199415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1791" t="0" r="-67623" b="0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19050"/>
              <a:ext cx="2137355" cy="201320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19"/>
                </a:lnSpc>
              </a:pPr>
              <a:r>
                <a:rPr lang="en-US" sz="1599" b="true">
                  <a:solidFill>
                    <a:srgbClr val="083061"/>
                  </a:solidFill>
                  <a:latin typeface="Arial Bold"/>
                  <a:ea typeface="Arial Bold"/>
                  <a:cs typeface="Arial Bold"/>
                  <a:sym typeface="Arial Bold"/>
                </a:rPr>
                <a:t>2.</a:t>
              </a:r>
            </a:p>
            <a:p>
              <a:pPr algn="ctr">
                <a:lnSpc>
                  <a:spcPts val="1919"/>
                </a:lnSpc>
              </a:pPr>
              <a:r>
                <a:rPr lang="en-US" b="true" sz="1599">
                  <a:solidFill>
                    <a:srgbClr val="083061"/>
                  </a:solidFill>
                  <a:latin typeface="Arial Bold"/>
                  <a:ea typeface="Arial Bold"/>
                  <a:cs typeface="Arial Bold"/>
                  <a:sym typeface="Arial Bold"/>
                </a:rPr>
                <a:t>Backend API</a:t>
              </a:r>
            </a:p>
            <a:p>
              <a:pPr algn="ctr">
                <a:lnSpc>
                  <a:spcPts val="1919"/>
                </a:lnSpc>
              </a:pPr>
              <a:r>
                <a:rPr lang="en-US" b="true" sz="1599">
                  <a:solidFill>
                    <a:srgbClr val="083061"/>
                  </a:solidFill>
                  <a:latin typeface="Arial Bold"/>
                  <a:ea typeface="Arial Bold"/>
                  <a:cs typeface="Arial Bold"/>
                  <a:sym typeface="Arial Bold"/>
                </a:rPr>
                <a:t>(Node.js, Express, FastAPI)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6472265" y="4559271"/>
            <a:ext cx="1536192" cy="1495615"/>
            <a:chOff x="0" y="0"/>
            <a:chExt cx="2048256" cy="1994154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2048256" cy="1994154"/>
            </a:xfrm>
            <a:custGeom>
              <a:avLst/>
              <a:gdLst/>
              <a:ahLst/>
              <a:cxnLst/>
              <a:rect r="r" b="b" t="t" l="l"/>
              <a:pathLst>
                <a:path h="1994154" w="2048256">
                  <a:moveTo>
                    <a:pt x="0" y="0"/>
                  </a:moveTo>
                  <a:lnTo>
                    <a:pt x="2048256" y="0"/>
                  </a:lnTo>
                  <a:lnTo>
                    <a:pt x="2048256" y="1994154"/>
                  </a:lnTo>
                  <a:lnTo>
                    <a:pt x="0" y="199415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4914" t="0" r="-74914" b="0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19050"/>
              <a:ext cx="2048256" cy="201320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083061"/>
                  </a:solidFill>
                  <a:latin typeface="Arial Bold"/>
                  <a:ea typeface="Arial Bold"/>
                  <a:cs typeface="Arial Bold"/>
                  <a:sym typeface="Arial Bold"/>
                </a:rPr>
                <a:t>3.</a:t>
              </a:r>
            </a:p>
            <a:p>
              <a:pPr algn="ctr">
                <a:lnSpc>
                  <a:spcPts val="1800"/>
                </a:lnSpc>
              </a:pPr>
              <a:r>
                <a:rPr lang="en-US" b="true" sz="1500">
                  <a:solidFill>
                    <a:srgbClr val="083061"/>
                  </a:solidFill>
                  <a:latin typeface="Arial Bold"/>
                  <a:ea typeface="Arial Bold"/>
                  <a:cs typeface="Arial Bold"/>
                  <a:sym typeface="Arial Bold"/>
                </a:rPr>
                <a:t>Database</a:t>
              </a:r>
            </a:p>
            <a:p>
              <a:pPr algn="ctr">
                <a:lnSpc>
                  <a:spcPts val="1800"/>
                </a:lnSpc>
              </a:pPr>
              <a:r>
                <a:rPr lang="en-US" b="true" sz="1500">
                  <a:solidFill>
                    <a:srgbClr val="083061"/>
                  </a:solidFill>
                  <a:latin typeface="Arial Bold"/>
                  <a:ea typeface="Arial Bold"/>
                  <a:cs typeface="Arial Bold"/>
                  <a:sym typeface="Arial Bold"/>
                </a:rPr>
                <a:t>(MongoDB, PostgreSQL).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5637344" y="6718063"/>
            <a:ext cx="1536192" cy="1481328"/>
            <a:chOff x="0" y="0"/>
            <a:chExt cx="2048256" cy="1975104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2048256" cy="1975104"/>
            </a:xfrm>
            <a:custGeom>
              <a:avLst/>
              <a:gdLst/>
              <a:ahLst/>
              <a:cxnLst/>
              <a:rect r="r" b="b" t="t" l="l"/>
              <a:pathLst>
                <a:path h="1975104" w="2048256">
                  <a:moveTo>
                    <a:pt x="0" y="0"/>
                  </a:moveTo>
                  <a:lnTo>
                    <a:pt x="2048256" y="0"/>
                  </a:lnTo>
                  <a:lnTo>
                    <a:pt x="2048256" y="1975104"/>
                  </a:lnTo>
                  <a:lnTo>
                    <a:pt x="0" y="197510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3721" t="0" r="-73721" b="0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19050"/>
              <a:ext cx="2048256" cy="199415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083061"/>
                  </a:solidFill>
                  <a:latin typeface="Arial Bold"/>
                  <a:ea typeface="Arial Bold"/>
                  <a:cs typeface="Arial Bold"/>
                  <a:sym typeface="Arial Bold"/>
                </a:rPr>
                <a:t>4.</a:t>
              </a:r>
            </a:p>
            <a:p>
              <a:pPr algn="ctr">
                <a:lnSpc>
                  <a:spcPts val="1800"/>
                </a:lnSpc>
              </a:pPr>
              <a:r>
                <a:rPr lang="en-US" b="true" sz="1500">
                  <a:solidFill>
                    <a:srgbClr val="083061"/>
                  </a:solidFill>
                  <a:latin typeface="Arial Bold"/>
                  <a:ea typeface="Arial Bold"/>
                  <a:cs typeface="Arial Bold"/>
                  <a:sym typeface="Arial Bold"/>
                </a:rPr>
                <a:t>HRMS &amp; Wellness</a:t>
              </a:r>
            </a:p>
            <a:p>
              <a:pPr algn="ctr">
                <a:lnSpc>
                  <a:spcPts val="1800"/>
                </a:lnSpc>
              </a:pPr>
              <a:r>
                <a:rPr lang="en-US" b="true" sz="1500">
                  <a:solidFill>
                    <a:srgbClr val="083061"/>
                  </a:solidFill>
                  <a:latin typeface="Arial Bold"/>
                  <a:ea typeface="Arial Bold"/>
                  <a:cs typeface="Arial Bold"/>
                  <a:sym typeface="Arial Bold"/>
                </a:rPr>
                <a:t>Data Ingestion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3607028" y="7458727"/>
            <a:ext cx="1536192" cy="1481328"/>
            <a:chOff x="0" y="0"/>
            <a:chExt cx="2048256" cy="1975104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2048256" cy="1975104"/>
            </a:xfrm>
            <a:custGeom>
              <a:avLst/>
              <a:gdLst/>
              <a:ahLst/>
              <a:cxnLst/>
              <a:rect r="r" b="b" t="t" l="l"/>
              <a:pathLst>
                <a:path h="1975104" w="2048256">
                  <a:moveTo>
                    <a:pt x="0" y="0"/>
                  </a:moveTo>
                  <a:lnTo>
                    <a:pt x="2048256" y="0"/>
                  </a:lnTo>
                  <a:lnTo>
                    <a:pt x="2048256" y="1975104"/>
                  </a:lnTo>
                  <a:lnTo>
                    <a:pt x="0" y="197510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3721" t="0" r="-73721" b="0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19050"/>
              <a:ext cx="2048256" cy="199415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19"/>
                </a:lnSpc>
              </a:pPr>
              <a:r>
                <a:rPr lang="en-US" sz="1599" b="true">
                  <a:solidFill>
                    <a:srgbClr val="083061"/>
                  </a:solidFill>
                  <a:latin typeface="Arial Bold"/>
                  <a:ea typeface="Arial Bold"/>
                  <a:cs typeface="Arial Bold"/>
                  <a:sym typeface="Arial Bold"/>
                </a:rPr>
                <a:t>5.</a:t>
              </a:r>
            </a:p>
            <a:p>
              <a:pPr algn="ctr">
                <a:lnSpc>
                  <a:spcPts val="1919"/>
                </a:lnSpc>
              </a:pPr>
              <a:r>
                <a:rPr lang="en-US" b="true" sz="1599">
                  <a:solidFill>
                    <a:srgbClr val="083061"/>
                  </a:solidFill>
                  <a:latin typeface="Arial Bold"/>
                  <a:ea typeface="Arial Bold"/>
                  <a:cs typeface="Arial Bold"/>
                  <a:sym typeface="Arial Bold"/>
                </a:rPr>
                <a:t>ML Model Execution</a:t>
              </a:r>
            </a:p>
            <a:p>
              <a:pPr algn="ctr">
                <a:lnSpc>
                  <a:spcPts val="1919"/>
                </a:lnSpc>
              </a:pPr>
              <a:r>
                <a:rPr lang="en-US" b="true" sz="1599">
                  <a:solidFill>
                    <a:srgbClr val="083061"/>
                  </a:solidFill>
                  <a:latin typeface="Arial Bold"/>
                  <a:ea typeface="Arial Bold"/>
                  <a:cs typeface="Arial Bold"/>
                  <a:sym typeface="Arial Bold"/>
                </a:rPr>
                <a:t>&amp; Frameworks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1530268" y="6718063"/>
            <a:ext cx="1536192" cy="1481328"/>
            <a:chOff x="0" y="0"/>
            <a:chExt cx="2048256" cy="1975104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2048256" cy="1975104"/>
            </a:xfrm>
            <a:custGeom>
              <a:avLst/>
              <a:gdLst/>
              <a:ahLst/>
              <a:cxnLst/>
              <a:rect r="r" b="b" t="t" l="l"/>
              <a:pathLst>
                <a:path h="1975104" w="2048256">
                  <a:moveTo>
                    <a:pt x="0" y="0"/>
                  </a:moveTo>
                  <a:lnTo>
                    <a:pt x="2048256" y="0"/>
                  </a:lnTo>
                  <a:lnTo>
                    <a:pt x="2048256" y="1975104"/>
                  </a:lnTo>
                  <a:lnTo>
                    <a:pt x="0" y="197510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3721" t="0" r="-73721" b="0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19050"/>
              <a:ext cx="2048256" cy="199415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19"/>
                </a:lnSpc>
              </a:pPr>
              <a:r>
                <a:rPr lang="en-US" sz="1599" b="true">
                  <a:solidFill>
                    <a:srgbClr val="083061"/>
                  </a:solidFill>
                  <a:latin typeface="Arial Bold"/>
                  <a:ea typeface="Arial Bold"/>
                  <a:cs typeface="Arial Bold"/>
                  <a:sym typeface="Arial Bold"/>
                </a:rPr>
                <a:t>6.</a:t>
              </a:r>
            </a:p>
            <a:p>
              <a:pPr algn="ctr">
                <a:lnSpc>
                  <a:spcPts val="1919"/>
                </a:lnSpc>
              </a:pPr>
              <a:r>
                <a:rPr lang="en-US" b="true" sz="1599">
                  <a:solidFill>
                    <a:srgbClr val="083061"/>
                  </a:solidFill>
                  <a:latin typeface="Arial Bold"/>
                  <a:ea typeface="Arial Bold"/>
                  <a:cs typeface="Arial Bold"/>
                  <a:sym typeface="Arial Bold"/>
                </a:rPr>
                <a:t>Models: XGBoost,</a:t>
              </a:r>
            </a:p>
            <a:p>
              <a:pPr algn="ctr">
                <a:lnSpc>
                  <a:spcPts val="1919"/>
                </a:lnSpc>
              </a:pPr>
              <a:r>
                <a:rPr lang="en-US" b="true" sz="1599">
                  <a:solidFill>
                    <a:srgbClr val="083061"/>
                  </a:solidFill>
                  <a:latin typeface="Arial Bold"/>
                  <a:ea typeface="Arial Bold"/>
                  <a:cs typeface="Arial Bold"/>
                  <a:sym typeface="Arial Bold"/>
                </a:rPr>
                <a:t>LSTM, NLP (BERT)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762172" y="4741480"/>
            <a:ext cx="1536192" cy="1481328"/>
            <a:chOff x="0" y="0"/>
            <a:chExt cx="2048256" cy="1975104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2048256" cy="1975104"/>
            </a:xfrm>
            <a:custGeom>
              <a:avLst/>
              <a:gdLst/>
              <a:ahLst/>
              <a:cxnLst/>
              <a:rect r="r" b="b" t="t" l="l"/>
              <a:pathLst>
                <a:path h="1975104" w="2048256">
                  <a:moveTo>
                    <a:pt x="0" y="0"/>
                  </a:moveTo>
                  <a:lnTo>
                    <a:pt x="2048256" y="0"/>
                  </a:lnTo>
                  <a:lnTo>
                    <a:pt x="2048256" y="1975104"/>
                  </a:lnTo>
                  <a:lnTo>
                    <a:pt x="0" y="197510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3721" t="0" r="-73721" b="0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19050"/>
              <a:ext cx="2048256" cy="199415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19"/>
                </a:lnSpc>
              </a:pPr>
              <a:r>
                <a:rPr lang="en-US" sz="1599" b="true">
                  <a:solidFill>
                    <a:srgbClr val="083061"/>
                  </a:solidFill>
                  <a:latin typeface="Arial Bold"/>
                  <a:ea typeface="Arial Bold"/>
                  <a:cs typeface="Arial Bold"/>
                  <a:sym typeface="Arial Bold"/>
                </a:rPr>
                <a:t>7.</a:t>
              </a:r>
            </a:p>
            <a:p>
              <a:pPr algn="ctr">
                <a:lnSpc>
                  <a:spcPts val="1919"/>
                </a:lnSpc>
              </a:pPr>
              <a:r>
                <a:rPr lang="en-US" b="true" sz="1599">
                  <a:solidFill>
                    <a:srgbClr val="083061"/>
                  </a:solidFill>
                  <a:latin typeface="Arial Bold"/>
                  <a:ea typeface="Arial Bold"/>
                  <a:cs typeface="Arial Bold"/>
                  <a:sym typeface="Arial Bold"/>
                </a:rPr>
                <a:t>Risk Scoring &amp;</a:t>
              </a:r>
            </a:p>
            <a:p>
              <a:pPr algn="ctr">
                <a:lnSpc>
                  <a:spcPts val="1919"/>
                </a:lnSpc>
              </a:pPr>
              <a:r>
                <a:rPr lang="en-US" b="true" sz="1599">
                  <a:solidFill>
                    <a:srgbClr val="083061"/>
                  </a:solidFill>
                  <a:latin typeface="Arial Bold"/>
                  <a:ea typeface="Arial Bold"/>
                  <a:cs typeface="Arial Bold"/>
                  <a:sym typeface="Arial Bold"/>
                </a:rPr>
                <a:t>Alert Generation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1508477" y="2637502"/>
            <a:ext cx="1536192" cy="1481328"/>
            <a:chOff x="0" y="0"/>
            <a:chExt cx="2048256" cy="1975104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2048256" cy="1975104"/>
            </a:xfrm>
            <a:custGeom>
              <a:avLst/>
              <a:gdLst/>
              <a:ahLst/>
              <a:cxnLst/>
              <a:rect r="r" b="b" t="t" l="l"/>
              <a:pathLst>
                <a:path h="1975104" w="2048256">
                  <a:moveTo>
                    <a:pt x="0" y="0"/>
                  </a:moveTo>
                  <a:lnTo>
                    <a:pt x="2048256" y="0"/>
                  </a:lnTo>
                  <a:lnTo>
                    <a:pt x="2048256" y="1975104"/>
                  </a:lnTo>
                  <a:lnTo>
                    <a:pt x="0" y="197510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3721" t="0" r="-73721" b="0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19050"/>
              <a:ext cx="2048256" cy="199415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083061"/>
                  </a:solidFill>
                  <a:latin typeface="Arial Bold"/>
                  <a:ea typeface="Arial Bold"/>
                  <a:cs typeface="Arial Bold"/>
                  <a:sym typeface="Arial Bold"/>
                </a:rPr>
                <a:t>8.</a:t>
              </a:r>
            </a:p>
            <a:p>
              <a:pPr algn="ctr">
                <a:lnSpc>
                  <a:spcPts val="1919"/>
                </a:lnSpc>
              </a:pPr>
              <a:r>
                <a:rPr lang="en-US" b="true" sz="1599">
                  <a:solidFill>
                    <a:srgbClr val="083061"/>
                  </a:solidFill>
                  <a:latin typeface="Arial Bold"/>
                  <a:ea typeface="Arial Bold"/>
                  <a:cs typeface="Arial Bold"/>
                  <a:sym typeface="Arial Bold"/>
                </a:rPr>
                <a:t>Dashboard Data to</a:t>
              </a:r>
            </a:p>
            <a:p>
              <a:pPr algn="ctr">
                <a:lnSpc>
                  <a:spcPts val="1800"/>
                </a:lnSpc>
              </a:pPr>
              <a:r>
                <a:rPr lang="en-US" b="true" sz="1500">
                  <a:solidFill>
                    <a:srgbClr val="083061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Commander / Welfare UI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9144000" y="1539991"/>
            <a:ext cx="7543800" cy="715955"/>
            <a:chOff x="0" y="0"/>
            <a:chExt cx="10058400" cy="954606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10058400" cy="954606"/>
            </a:xfrm>
            <a:custGeom>
              <a:avLst/>
              <a:gdLst/>
              <a:ahLst/>
              <a:cxnLst/>
              <a:rect r="r" b="b" t="t" l="l"/>
              <a:pathLst>
                <a:path h="954606" w="10058400">
                  <a:moveTo>
                    <a:pt x="0" y="0"/>
                  </a:moveTo>
                  <a:lnTo>
                    <a:pt x="10058400" y="0"/>
                  </a:lnTo>
                  <a:lnTo>
                    <a:pt x="10058400" y="954606"/>
                  </a:lnTo>
                  <a:lnTo>
                    <a:pt x="0" y="95460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76571" r="0" b="-134044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19050"/>
              <a:ext cx="10058400" cy="9736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199"/>
                </a:lnSpc>
              </a:pPr>
              <a:r>
                <a:rPr lang="en-US" sz="3499" b="true">
                  <a:solidFill>
                    <a:srgbClr val="E8710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Frontend: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9144000" y="3958848"/>
            <a:ext cx="2154872" cy="725481"/>
            <a:chOff x="0" y="0"/>
            <a:chExt cx="2873163" cy="967309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2873163" cy="967309"/>
            </a:xfrm>
            <a:custGeom>
              <a:avLst/>
              <a:gdLst/>
              <a:ahLst/>
              <a:cxnLst/>
              <a:rect r="r" b="b" t="t" l="l"/>
              <a:pathLst>
                <a:path h="967309" w="2873163">
                  <a:moveTo>
                    <a:pt x="0" y="0"/>
                  </a:moveTo>
                  <a:lnTo>
                    <a:pt x="2873163" y="0"/>
                  </a:lnTo>
                  <a:lnTo>
                    <a:pt x="2873163" y="967309"/>
                  </a:lnTo>
                  <a:lnTo>
                    <a:pt x="0" y="96730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74252" r="-250081" b="-130971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28575"/>
              <a:ext cx="2873163" cy="9958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200"/>
                </a:lnSpc>
              </a:pPr>
              <a:r>
                <a:rPr lang="en-US" sz="3500" b="true">
                  <a:solidFill>
                    <a:srgbClr val="E8710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Backend: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9113579" y="5860067"/>
            <a:ext cx="2185293" cy="725481"/>
            <a:chOff x="0" y="0"/>
            <a:chExt cx="2913724" cy="967309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2913724" cy="967309"/>
            </a:xfrm>
            <a:custGeom>
              <a:avLst/>
              <a:gdLst/>
              <a:ahLst/>
              <a:cxnLst/>
              <a:rect r="r" b="b" t="t" l="l"/>
              <a:pathLst>
                <a:path h="967309" w="2913724">
                  <a:moveTo>
                    <a:pt x="0" y="0"/>
                  </a:moveTo>
                  <a:lnTo>
                    <a:pt x="2913724" y="0"/>
                  </a:lnTo>
                  <a:lnTo>
                    <a:pt x="2913724" y="967309"/>
                  </a:lnTo>
                  <a:lnTo>
                    <a:pt x="0" y="967309"/>
                  </a:lnTo>
                  <a:close/>
                </a:path>
              </a:pathLst>
            </a:custGeom>
            <a:blipFill>
              <a:blip r:embed="rId23">
                <a:alphaModFix amt="0"/>
              </a:blip>
              <a:stretch>
                <a:fillRect l="0" t="-100609" r="0" b="-100609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28575"/>
              <a:ext cx="2913724" cy="9958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200"/>
                </a:lnSpc>
              </a:pPr>
              <a:r>
                <a:rPr lang="en-US" sz="3500" b="true">
                  <a:solidFill>
                    <a:srgbClr val="E8710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Database: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9108157" y="7383333"/>
            <a:ext cx="3342562" cy="661392"/>
            <a:chOff x="0" y="0"/>
            <a:chExt cx="4456749" cy="881856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4456749" cy="881856"/>
            </a:xfrm>
            <a:custGeom>
              <a:avLst/>
              <a:gdLst/>
              <a:ahLst/>
              <a:cxnLst/>
              <a:rect r="r" b="b" t="t" l="l"/>
              <a:pathLst>
                <a:path h="881856" w="4456749">
                  <a:moveTo>
                    <a:pt x="0" y="0"/>
                  </a:moveTo>
                  <a:lnTo>
                    <a:pt x="4456749" y="0"/>
                  </a:lnTo>
                  <a:lnTo>
                    <a:pt x="4456749" y="881856"/>
                  </a:lnTo>
                  <a:lnTo>
                    <a:pt x="0" y="8818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91138" r="-125689" b="-153352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28575"/>
              <a:ext cx="4456749" cy="91043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0"/>
                </a:lnSpc>
              </a:pPr>
              <a:r>
                <a:rPr lang="en-US" sz="3200" b="true">
                  <a:solidFill>
                    <a:srgbClr val="E8710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ML &amp; Analytics: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13728756" y="5860067"/>
            <a:ext cx="4365247" cy="661392"/>
            <a:chOff x="0" y="0"/>
            <a:chExt cx="5820330" cy="881856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5820330" cy="881856"/>
            </a:xfrm>
            <a:custGeom>
              <a:avLst/>
              <a:gdLst/>
              <a:ahLst/>
              <a:cxnLst/>
              <a:rect r="r" b="b" t="t" l="l"/>
              <a:pathLst>
                <a:path h="881856" w="5820330">
                  <a:moveTo>
                    <a:pt x="0" y="0"/>
                  </a:moveTo>
                  <a:lnTo>
                    <a:pt x="5820330" y="0"/>
                  </a:lnTo>
                  <a:lnTo>
                    <a:pt x="5820330" y="881856"/>
                  </a:lnTo>
                  <a:lnTo>
                    <a:pt x="0" y="8818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91138" r="-72814" b="-153352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28575"/>
              <a:ext cx="5820330" cy="91043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0"/>
                </a:lnSpc>
              </a:pPr>
              <a:r>
                <a:rPr lang="en-US" sz="3200" b="true">
                  <a:solidFill>
                    <a:srgbClr val="E8710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Security &amp; Privacy:</a:t>
              </a:r>
            </a:p>
          </p:txBody>
        </p:sp>
      </p:grpSp>
      <p:sp>
        <p:nvSpPr>
          <p:cNvPr name="Freeform 77" id="77"/>
          <p:cNvSpPr/>
          <p:nvPr/>
        </p:nvSpPr>
        <p:spPr>
          <a:xfrm flipH="false" flipV="false" rot="0">
            <a:off x="10050583" y="2217846"/>
            <a:ext cx="1699637" cy="1699637"/>
          </a:xfrm>
          <a:custGeom>
            <a:avLst/>
            <a:gdLst/>
            <a:ahLst/>
            <a:cxnLst/>
            <a:rect r="r" b="b" t="t" l="l"/>
            <a:pathLst>
              <a:path h="1699637" w="1699637">
                <a:moveTo>
                  <a:pt x="0" y="0"/>
                </a:moveTo>
                <a:lnTo>
                  <a:pt x="1699637" y="0"/>
                </a:lnTo>
                <a:lnTo>
                  <a:pt x="1699637" y="1699636"/>
                </a:lnTo>
                <a:lnTo>
                  <a:pt x="0" y="1699636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>
              <a:fillRect l="0" t="0" r="0" b="0"/>
            </a:stretch>
          </a:blipFill>
        </p:spPr>
      </p:sp>
      <p:sp>
        <p:nvSpPr>
          <p:cNvPr name="Freeform 78" id="78"/>
          <p:cNvSpPr/>
          <p:nvPr/>
        </p:nvSpPr>
        <p:spPr>
          <a:xfrm flipH="false" flipV="false" rot="0">
            <a:off x="12450718" y="1753559"/>
            <a:ext cx="2277669" cy="2277669"/>
          </a:xfrm>
          <a:custGeom>
            <a:avLst/>
            <a:gdLst/>
            <a:ahLst/>
            <a:cxnLst/>
            <a:rect r="r" b="b" t="t" l="l"/>
            <a:pathLst>
              <a:path h="2277669" w="2277669">
                <a:moveTo>
                  <a:pt x="0" y="0"/>
                </a:moveTo>
                <a:lnTo>
                  <a:pt x="2277669" y="0"/>
                </a:lnTo>
                <a:lnTo>
                  <a:pt x="2277669" y="2277669"/>
                </a:lnTo>
                <a:lnTo>
                  <a:pt x="0" y="2277669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>
              <a:fillRect l="0" t="0" r="0" b="0"/>
            </a:stretch>
          </a:blipFill>
        </p:spPr>
      </p:sp>
      <p:sp>
        <p:nvSpPr>
          <p:cNvPr name="Freeform 79" id="79"/>
          <p:cNvSpPr/>
          <p:nvPr/>
        </p:nvSpPr>
        <p:spPr>
          <a:xfrm flipH="false" flipV="false" rot="0">
            <a:off x="10078664" y="4449910"/>
            <a:ext cx="2440416" cy="1494755"/>
          </a:xfrm>
          <a:custGeom>
            <a:avLst/>
            <a:gdLst/>
            <a:ahLst/>
            <a:cxnLst/>
            <a:rect r="r" b="b" t="t" l="l"/>
            <a:pathLst>
              <a:path h="1494755" w="2440416">
                <a:moveTo>
                  <a:pt x="0" y="0"/>
                </a:moveTo>
                <a:lnTo>
                  <a:pt x="2440417" y="0"/>
                </a:lnTo>
                <a:lnTo>
                  <a:pt x="2440417" y="1494755"/>
                </a:lnTo>
                <a:lnTo>
                  <a:pt x="0" y="1494755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>
              <a:fillRect l="0" t="0" r="0" b="0"/>
            </a:stretch>
          </a:blipFill>
        </p:spPr>
      </p:sp>
      <p:sp>
        <p:nvSpPr>
          <p:cNvPr name="Freeform 80" id="80"/>
          <p:cNvSpPr/>
          <p:nvPr/>
        </p:nvSpPr>
        <p:spPr>
          <a:xfrm flipH="false" flipV="false" rot="0">
            <a:off x="13001549" y="4031228"/>
            <a:ext cx="4829701" cy="2191580"/>
          </a:xfrm>
          <a:custGeom>
            <a:avLst/>
            <a:gdLst/>
            <a:ahLst/>
            <a:cxnLst/>
            <a:rect r="r" b="b" t="t" l="l"/>
            <a:pathLst>
              <a:path h="2191580" w="4829701">
                <a:moveTo>
                  <a:pt x="0" y="0"/>
                </a:moveTo>
                <a:lnTo>
                  <a:pt x="4829702" y="0"/>
                </a:lnTo>
                <a:lnTo>
                  <a:pt x="4829702" y="2191580"/>
                </a:lnTo>
                <a:lnTo>
                  <a:pt x="0" y="2191580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>
              <a:fillRect l="0" t="0" r="0" b="0"/>
            </a:stretch>
          </a:blipFill>
        </p:spPr>
      </p:sp>
      <p:sp>
        <p:nvSpPr>
          <p:cNvPr name="Freeform 81" id="81"/>
          <p:cNvSpPr/>
          <p:nvPr/>
        </p:nvSpPr>
        <p:spPr>
          <a:xfrm flipH="false" flipV="false" rot="0">
            <a:off x="9451335" y="6249746"/>
            <a:ext cx="2999383" cy="1300511"/>
          </a:xfrm>
          <a:custGeom>
            <a:avLst/>
            <a:gdLst/>
            <a:ahLst/>
            <a:cxnLst/>
            <a:rect r="r" b="b" t="t" l="l"/>
            <a:pathLst>
              <a:path h="1300511" w="2999383">
                <a:moveTo>
                  <a:pt x="0" y="0"/>
                </a:moveTo>
                <a:lnTo>
                  <a:pt x="2999383" y="0"/>
                </a:lnTo>
                <a:lnTo>
                  <a:pt x="2999383" y="1300510"/>
                </a:lnTo>
                <a:lnTo>
                  <a:pt x="0" y="1300510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>
              <a:fillRect l="0" t="-72394" r="0" b="-58236"/>
            </a:stretch>
          </a:blipFill>
        </p:spPr>
      </p:sp>
      <p:sp>
        <p:nvSpPr>
          <p:cNvPr name="Freeform 82" id="82"/>
          <p:cNvSpPr/>
          <p:nvPr/>
        </p:nvSpPr>
        <p:spPr>
          <a:xfrm flipH="false" flipV="false" rot="0">
            <a:off x="14670043" y="6361820"/>
            <a:ext cx="2289466" cy="984141"/>
          </a:xfrm>
          <a:custGeom>
            <a:avLst/>
            <a:gdLst/>
            <a:ahLst/>
            <a:cxnLst/>
            <a:rect r="r" b="b" t="t" l="l"/>
            <a:pathLst>
              <a:path h="984141" w="2289466">
                <a:moveTo>
                  <a:pt x="0" y="0"/>
                </a:moveTo>
                <a:lnTo>
                  <a:pt x="2289466" y="0"/>
                </a:lnTo>
                <a:lnTo>
                  <a:pt x="2289466" y="984141"/>
                </a:lnTo>
                <a:lnTo>
                  <a:pt x="0" y="984141"/>
                </a:lnTo>
                <a:lnTo>
                  <a:pt x="0" y="0"/>
                </a:lnTo>
                <a:close/>
              </a:path>
            </a:pathLst>
          </a:custGeom>
          <a:blipFill>
            <a:blip r:embed="rId29"/>
            <a:stretch>
              <a:fillRect l="0" t="0" r="0" b="0"/>
            </a:stretch>
          </a:blipFill>
        </p:spPr>
      </p:sp>
      <p:sp>
        <p:nvSpPr>
          <p:cNvPr name="Freeform 83" id="83"/>
          <p:cNvSpPr/>
          <p:nvPr/>
        </p:nvSpPr>
        <p:spPr>
          <a:xfrm flipH="false" flipV="false" rot="0">
            <a:off x="9144000" y="7966872"/>
            <a:ext cx="2407898" cy="1203949"/>
          </a:xfrm>
          <a:custGeom>
            <a:avLst/>
            <a:gdLst/>
            <a:ahLst/>
            <a:cxnLst/>
            <a:rect r="r" b="b" t="t" l="l"/>
            <a:pathLst>
              <a:path h="1203949" w="2407898">
                <a:moveTo>
                  <a:pt x="0" y="0"/>
                </a:moveTo>
                <a:lnTo>
                  <a:pt x="2407898" y="0"/>
                </a:lnTo>
                <a:lnTo>
                  <a:pt x="2407898" y="1203949"/>
                </a:lnTo>
                <a:lnTo>
                  <a:pt x="0" y="1203949"/>
                </a:lnTo>
                <a:lnTo>
                  <a:pt x="0" y="0"/>
                </a:lnTo>
                <a:close/>
              </a:path>
            </a:pathLst>
          </a:custGeom>
          <a:blipFill>
            <a:blip r:embed="rId30"/>
            <a:stretch>
              <a:fillRect l="0" t="0" r="0" b="0"/>
            </a:stretch>
          </a:blipFill>
        </p:spPr>
      </p:sp>
      <p:sp>
        <p:nvSpPr>
          <p:cNvPr name="Freeform 84" id="84"/>
          <p:cNvSpPr/>
          <p:nvPr/>
        </p:nvSpPr>
        <p:spPr>
          <a:xfrm flipH="false" flipV="false" rot="0">
            <a:off x="11778301" y="8044726"/>
            <a:ext cx="2171938" cy="1108996"/>
          </a:xfrm>
          <a:custGeom>
            <a:avLst/>
            <a:gdLst/>
            <a:ahLst/>
            <a:cxnLst/>
            <a:rect r="r" b="b" t="t" l="l"/>
            <a:pathLst>
              <a:path h="1108996" w="2171938">
                <a:moveTo>
                  <a:pt x="0" y="0"/>
                </a:moveTo>
                <a:lnTo>
                  <a:pt x="2171938" y="0"/>
                </a:lnTo>
                <a:lnTo>
                  <a:pt x="2171938" y="1108996"/>
                </a:lnTo>
                <a:lnTo>
                  <a:pt x="0" y="1108996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>
              <a:fillRect l="0" t="-52150" r="-2499" b="-48592"/>
            </a:stretch>
          </a:blipFill>
        </p:spPr>
      </p:sp>
      <p:sp>
        <p:nvSpPr>
          <p:cNvPr name="Freeform 85" id="85"/>
          <p:cNvSpPr/>
          <p:nvPr/>
        </p:nvSpPr>
        <p:spPr>
          <a:xfrm flipH="false" flipV="false" rot="0">
            <a:off x="13950239" y="7790230"/>
            <a:ext cx="2071043" cy="1356646"/>
          </a:xfrm>
          <a:custGeom>
            <a:avLst/>
            <a:gdLst/>
            <a:ahLst/>
            <a:cxnLst/>
            <a:rect r="r" b="b" t="t" l="l"/>
            <a:pathLst>
              <a:path h="1356646" w="2071043">
                <a:moveTo>
                  <a:pt x="0" y="0"/>
                </a:moveTo>
                <a:lnTo>
                  <a:pt x="2071043" y="0"/>
                </a:lnTo>
                <a:lnTo>
                  <a:pt x="2071043" y="1356646"/>
                </a:lnTo>
                <a:lnTo>
                  <a:pt x="0" y="1356646"/>
                </a:lnTo>
                <a:lnTo>
                  <a:pt x="0" y="0"/>
                </a:lnTo>
                <a:close/>
              </a:path>
            </a:pathLst>
          </a:custGeom>
          <a:blipFill>
            <a:blip r:embed="rId31"/>
            <a:stretch>
              <a:fillRect l="-9198" t="-41414" r="-6117" b="-34625"/>
            </a:stretch>
          </a:blipFill>
        </p:spPr>
      </p:sp>
      <p:sp>
        <p:nvSpPr>
          <p:cNvPr name="Freeform 86" id="86"/>
          <p:cNvSpPr/>
          <p:nvPr/>
        </p:nvSpPr>
        <p:spPr>
          <a:xfrm flipH="false" flipV="false" rot="0">
            <a:off x="14879155" y="2029654"/>
            <a:ext cx="2145983" cy="2145983"/>
          </a:xfrm>
          <a:custGeom>
            <a:avLst/>
            <a:gdLst/>
            <a:ahLst/>
            <a:cxnLst/>
            <a:rect r="r" b="b" t="t" l="l"/>
            <a:pathLst>
              <a:path h="2145983" w="2145983">
                <a:moveTo>
                  <a:pt x="0" y="0"/>
                </a:moveTo>
                <a:lnTo>
                  <a:pt x="2145983" y="0"/>
                </a:lnTo>
                <a:lnTo>
                  <a:pt x="2145983" y="2145983"/>
                </a:lnTo>
                <a:lnTo>
                  <a:pt x="0" y="2145983"/>
                </a:lnTo>
                <a:lnTo>
                  <a:pt x="0" y="0"/>
                </a:lnTo>
                <a:close/>
              </a:path>
            </a:pathLst>
          </a:custGeom>
          <a:blipFill>
            <a:blip r:embed="rId3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532144"/>
            <a:ext cx="18288000" cy="754856"/>
            <a:chOff x="0" y="0"/>
            <a:chExt cx="24384000" cy="10064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3943350" y="2248"/>
            <a:ext cx="10401300" cy="1086231"/>
            <a:chOff x="0" y="0"/>
            <a:chExt cx="13868400" cy="144830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3868400" cy="1448308"/>
            </a:xfrm>
            <a:custGeom>
              <a:avLst/>
              <a:gdLst/>
              <a:ahLst/>
              <a:cxnLst/>
              <a:rect r="r" b="b" t="t" l="l"/>
              <a:pathLst>
                <a:path h="1448308" w="13868400">
                  <a:moveTo>
                    <a:pt x="0" y="0"/>
                  </a:moveTo>
                  <a:lnTo>
                    <a:pt x="13868400" y="0"/>
                  </a:lnTo>
                  <a:lnTo>
                    <a:pt x="13868400" y="1448308"/>
                  </a:lnTo>
                  <a:lnTo>
                    <a:pt x="0" y="144830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6328" r="-58241" b="-274168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13868400" cy="147688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sz="54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FEASIBILITY AND VIABILITY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5689600" cy="768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b="true" sz="1800">
                  <a:solidFill>
                    <a:srgbClr val="FFFFFF"/>
                  </a:solidFill>
                  <a:latin typeface="Trade Gothic Condensed Bold"/>
                  <a:ea typeface="Trade Gothic Condensed Bold"/>
                  <a:cs typeface="Trade Gothic Condensed Bold"/>
                  <a:sym typeface="Trade Gothic Condensed Bold"/>
                </a:rPr>
                <a:t>4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972300" y="9534525"/>
            <a:ext cx="4806001" cy="547688"/>
            <a:chOff x="0" y="0"/>
            <a:chExt cx="6408001" cy="7302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408000" cy="730250"/>
            </a:xfrm>
            <a:custGeom>
              <a:avLst/>
              <a:gdLst/>
              <a:ahLst/>
              <a:cxnLst/>
              <a:rect r="r" b="b" t="t" l="l"/>
              <a:pathLst>
                <a:path h="730250" w="640800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0982" r="0" b="-120982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6408001" cy="768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Trade Gothic Condensed"/>
                  <a:ea typeface="Trade Gothic Condensed"/>
                  <a:cs typeface="Trade Gothic Condensed"/>
                  <a:sym typeface="Trade Gothic Condensed"/>
                </a:rPr>
                <a:t>@SIH Idea submission- Template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5400765" y="2248"/>
            <a:ext cx="2644138" cy="1248511"/>
            <a:chOff x="0" y="0"/>
            <a:chExt cx="4499699" cy="212467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1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5262672" y="1028700"/>
            <a:ext cx="6896246" cy="612549"/>
            <a:chOff x="0" y="0"/>
            <a:chExt cx="9194994" cy="81673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9194995" cy="816731"/>
            </a:xfrm>
            <a:custGeom>
              <a:avLst/>
              <a:gdLst/>
              <a:ahLst/>
              <a:cxnLst/>
              <a:rect r="r" b="b" t="t" l="l"/>
              <a:pathLst>
                <a:path h="816731" w="9194995">
                  <a:moveTo>
                    <a:pt x="0" y="0"/>
                  </a:moveTo>
                  <a:lnTo>
                    <a:pt x="9194995" y="0"/>
                  </a:lnTo>
                  <a:lnTo>
                    <a:pt x="9194995" y="816731"/>
                  </a:lnTo>
                  <a:lnTo>
                    <a:pt x="0" y="81673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03451" r="-73034" b="-355715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19050"/>
              <a:ext cx="9194994" cy="83578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59"/>
                </a:lnSpc>
              </a:pPr>
              <a:r>
                <a:rPr lang="en-US" b="true" sz="3049" u="sng">
                  <a:solidFill>
                    <a:srgbClr val="111111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Key Challenges &amp; Mitigation Strategies</a:t>
              </a: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357905" y="1748739"/>
            <a:ext cx="2321485" cy="3741108"/>
          </a:xfrm>
          <a:custGeom>
            <a:avLst/>
            <a:gdLst/>
            <a:ahLst/>
            <a:cxnLst/>
            <a:rect r="r" b="b" t="t" l="l"/>
            <a:pathLst>
              <a:path h="3741108" w="2321485">
                <a:moveTo>
                  <a:pt x="0" y="0"/>
                </a:moveTo>
                <a:lnTo>
                  <a:pt x="2321484" y="0"/>
                </a:lnTo>
                <a:lnTo>
                  <a:pt x="2321484" y="3741109"/>
                </a:lnTo>
                <a:lnTo>
                  <a:pt x="0" y="374110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599" r="0" b="-1028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3610827" y="5166856"/>
            <a:ext cx="2127926" cy="3678145"/>
          </a:xfrm>
          <a:custGeom>
            <a:avLst/>
            <a:gdLst/>
            <a:ahLst/>
            <a:cxnLst/>
            <a:rect r="r" b="b" t="t" l="l"/>
            <a:pathLst>
              <a:path h="3678145" w="2127926">
                <a:moveTo>
                  <a:pt x="0" y="0"/>
                </a:moveTo>
                <a:lnTo>
                  <a:pt x="2127927" y="0"/>
                </a:lnTo>
                <a:lnTo>
                  <a:pt x="2127927" y="3678145"/>
                </a:lnTo>
                <a:lnTo>
                  <a:pt x="0" y="367814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6091179" y="1748739"/>
            <a:ext cx="2176240" cy="3693067"/>
          </a:xfrm>
          <a:custGeom>
            <a:avLst/>
            <a:gdLst/>
            <a:ahLst/>
            <a:cxnLst/>
            <a:rect r="r" b="b" t="t" l="l"/>
            <a:pathLst>
              <a:path h="3693067" w="2176240">
                <a:moveTo>
                  <a:pt x="0" y="0"/>
                </a:moveTo>
                <a:lnTo>
                  <a:pt x="2176240" y="0"/>
                </a:lnTo>
                <a:lnTo>
                  <a:pt x="2176240" y="3693067"/>
                </a:lnTo>
                <a:lnTo>
                  <a:pt x="0" y="369306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-1857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9375300" y="5412418"/>
            <a:ext cx="2140906" cy="3700581"/>
          </a:xfrm>
          <a:custGeom>
            <a:avLst/>
            <a:gdLst/>
            <a:ahLst/>
            <a:cxnLst/>
            <a:rect r="r" b="b" t="t" l="l"/>
            <a:pathLst>
              <a:path h="3700581" w="2140906">
                <a:moveTo>
                  <a:pt x="0" y="0"/>
                </a:moveTo>
                <a:lnTo>
                  <a:pt x="2140906" y="0"/>
                </a:lnTo>
                <a:lnTo>
                  <a:pt x="2140906" y="3700580"/>
                </a:lnTo>
                <a:lnTo>
                  <a:pt x="0" y="370058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1664927" y="1719419"/>
            <a:ext cx="2195696" cy="3799749"/>
          </a:xfrm>
          <a:custGeom>
            <a:avLst/>
            <a:gdLst/>
            <a:ahLst/>
            <a:cxnLst/>
            <a:rect r="r" b="b" t="t" l="l"/>
            <a:pathLst>
              <a:path h="3799749" w="2195696">
                <a:moveTo>
                  <a:pt x="0" y="0"/>
                </a:moveTo>
                <a:lnTo>
                  <a:pt x="2195696" y="0"/>
                </a:lnTo>
                <a:lnTo>
                  <a:pt x="2195696" y="3799749"/>
                </a:lnTo>
                <a:lnTo>
                  <a:pt x="0" y="379974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-117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5678073" y="1641249"/>
            <a:ext cx="1879791" cy="3377951"/>
          </a:xfrm>
          <a:custGeom>
            <a:avLst/>
            <a:gdLst/>
            <a:ahLst/>
            <a:cxnLst/>
            <a:rect r="r" b="b" t="t" l="l"/>
            <a:pathLst>
              <a:path h="3377951" w="1879791">
                <a:moveTo>
                  <a:pt x="0" y="0"/>
                </a:moveTo>
                <a:lnTo>
                  <a:pt x="1879790" y="0"/>
                </a:lnTo>
                <a:lnTo>
                  <a:pt x="1879790" y="3377951"/>
                </a:lnTo>
                <a:lnTo>
                  <a:pt x="0" y="337795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1980" t="0" r="-198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5612770" y="5268433"/>
            <a:ext cx="2010396" cy="3474992"/>
          </a:xfrm>
          <a:custGeom>
            <a:avLst/>
            <a:gdLst/>
            <a:ahLst/>
            <a:cxnLst/>
            <a:rect r="r" b="b" t="t" l="l"/>
            <a:pathLst>
              <a:path h="3474992" w="2010396">
                <a:moveTo>
                  <a:pt x="0" y="0"/>
                </a:moveTo>
                <a:lnTo>
                  <a:pt x="2010396" y="0"/>
                </a:lnTo>
                <a:lnTo>
                  <a:pt x="2010396" y="3474992"/>
                </a:lnTo>
                <a:lnTo>
                  <a:pt x="0" y="347499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grpSp>
        <p:nvGrpSpPr>
          <p:cNvPr name="Group 25" id="25"/>
          <p:cNvGrpSpPr/>
          <p:nvPr/>
        </p:nvGrpSpPr>
        <p:grpSpPr>
          <a:xfrm rot="0">
            <a:off x="245993" y="36871"/>
            <a:ext cx="1774831" cy="1774831"/>
            <a:chOff x="0" y="0"/>
            <a:chExt cx="2245728" cy="2245728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245741" cy="2245741"/>
            </a:xfrm>
            <a:custGeom>
              <a:avLst/>
              <a:gdLst/>
              <a:ahLst/>
              <a:cxnLst/>
              <a:rect r="r" b="b" t="t" l="l"/>
              <a:pathLst>
                <a:path h="2245741" w="2245741">
                  <a:moveTo>
                    <a:pt x="0" y="0"/>
                  </a:moveTo>
                  <a:lnTo>
                    <a:pt x="2245741" y="0"/>
                  </a:lnTo>
                  <a:lnTo>
                    <a:pt x="2245741" y="2245741"/>
                  </a:lnTo>
                  <a:lnTo>
                    <a:pt x="0" y="22457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</p:grpSp>
      <p:sp>
        <p:nvSpPr>
          <p:cNvPr name="Freeform 27" id="27"/>
          <p:cNvSpPr/>
          <p:nvPr/>
        </p:nvSpPr>
        <p:spPr>
          <a:xfrm flipH="false" flipV="true" rot="500307">
            <a:off x="2463895" y="4787445"/>
            <a:ext cx="1272392" cy="769797"/>
          </a:xfrm>
          <a:custGeom>
            <a:avLst/>
            <a:gdLst/>
            <a:ahLst/>
            <a:cxnLst/>
            <a:rect r="r" b="b" t="t" l="l"/>
            <a:pathLst>
              <a:path h="769797" w="1272392">
                <a:moveTo>
                  <a:pt x="0" y="769798"/>
                </a:moveTo>
                <a:lnTo>
                  <a:pt x="1272392" y="769798"/>
                </a:lnTo>
                <a:lnTo>
                  <a:pt x="1272392" y="0"/>
                </a:lnTo>
                <a:lnTo>
                  <a:pt x="0" y="0"/>
                </a:lnTo>
                <a:lnTo>
                  <a:pt x="0" y="769798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-998273">
            <a:off x="5382388" y="4679118"/>
            <a:ext cx="908360" cy="549558"/>
          </a:xfrm>
          <a:custGeom>
            <a:avLst/>
            <a:gdLst/>
            <a:ahLst/>
            <a:cxnLst/>
            <a:rect r="r" b="b" t="t" l="l"/>
            <a:pathLst>
              <a:path h="549558" w="908360">
                <a:moveTo>
                  <a:pt x="0" y="0"/>
                </a:moveTo>
                <a:lnTo>
                  <a:pt x="908359" y="0"/>
                </a:lnTo>
                <a:lnTo>
                  <a:pt x="908359" y="549557"/>
                </a:lnTo>
                <a:lnTo>
                  <a:pt x="0" y="549557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true" rot="698323">
            <a:off x="8103880" y="4819999"/>
            <a:ext cx="1275702" cy="771800"/>
          </a:xfrm>
          <a:custGeom>
            <a:avLst/>
            <a:gdLst/>
            <a:ahLst/>
            <a:cxnLst/>
            <a:rect r="r" b="b" t="t" l="l"/>
            <a:pathLst>
              <a:path h="771800" w="1275702">
                <a:moveTo>
                  <a:pt x="0" y="771799"/>
                </a:moveTo>
                <a:lnTo>
                  <a:pt x="1275702" y="771799"/>
                </a:lnTo>
                <a:lnTo>
                  <a:pt x="1275702" y="0"/>
                </a:lnTo>
                <a:lnTo>
                  <a:pt x="0" y="0"/>
                </a:lnTo>
                <a:lnTo>
                  <a:pt x="0" y="771799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-1148153">
            <a:off x="11046501" y="4837862"/>
            <a:ext cx="802914" cy="485763"/>
          </a:xfrm>
          <a:custGeom>
            <a:avLst/>
            <a:gdLst/>
            <a:ahLst/>
            <a:cxnLst/>
            <a:rect r="r" b="b" t="t" l="l"/>
            <a:pathLst>
              <a:path h="485763" w="802914">
                <a:moveTo>
                  <a:pt x="0" y="0"/>
                </a:moveTo>
                <a:lnTo>
                  <a:pt x="802914" y="0"/>
                </a:lnTo>
                <a:lnTo>
                  <a:pt x="802914" y="485763"/>
                </a:lnTo>
                <a:lnTo>
                  <a:pt x="0" y="485763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grpSp>
        <p:nvGrpSpPr>
          <p:cNvPr name="Group 31" id="31"/>
          <p:cNvGrpSpPr/>
          <p:nvPr/>
        </p:nvGrpSpPr>
        <p:grpSpPr>
          <a:xfrm rot="0">
            <a:off x="-87465" y="5610697"/>
            <a:ext cx="3776025" cy="3267226"/>
            <a:chOff x="0" y="0"/>
            <a:chExt cx="5034700" cy="4356301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5034700" cy="4356301"/>
            </a:xfrm>
            <a:custGeom>
              <a:avLst/>
              <a:gdLst/>
              <a:ahLst/>
              <a:cxnLst/>
              <a:rect r="r" b="b" t="t" l="l"/>
              <a:pathLst>
                <a:path h="4356301" w="5034700">
                  <a:moveTo>
                    <a:pt x="0" y="0"/>
                  </a:moveTo>
                  <a:lnTo>
                    <a:pt x="5034700" y="0"/>
                  </a:lnTo>
                  <a:lnTo>
                    <a:pt x="5034700" y="4356301"/>
                  </a:lnTo>
                  <a:lnTo>
                    <a:pt x="0" y="43563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>
                <a:extLst>
                  <a:ext uri="{96DAC541-7B7A-43D3-8B79-37D633B846F1}">
                    <asvg:svgBlip xmlns:asvg="http://schemas.microsoft.com/office/drawing/2016/SVG/main" r:embed="rId17"/>
                  </a:ext>
                </a:extLst>
              </a:blip>
              <a:stretch>
                <a:fillRect l="0" t="-563" r="0" b="-563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 rot="0">
              <a:off x="438153" y="334033"/>
              <a:ext cx="4158395" cy="364140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850"/>
                </a:lnSpc>
              </a:pPr>
              <a:r>
                <a:rPr lang="en-US" sz="1321" b="true">
                  <a:solidFill>
                    <a:srgbClr val="FFFFFF"/>
                  </a:solidFill>
                  <a:latin typeface="Canva Sans 1 Bold"/>
                  <a:ea typeface="Canva Sans 1 Bold"/>
                  <a:cs typeface="Canva Sans 1 Bold"/>
                  <a:sym typeface="Canva Sans 1 Bold"/>
                </a:rPr>
                <a:t>Challenge 1</a:t>
              </a:r>
              <a:r>
                <a:rPr lang="en-US" sz="1321" b="true">
                  <a:solidFill>
                    <a:srgbClr val="000000"/>
                  </a:solidFill>
                  <a:latin typeface="Canva Sans 1 Bold"/>
                  <a:ea typeface="Canva Sans 1 Bold"/>
                  <a:cs typeface="Canva Sans 1 Bold"/>
                  <a:sym typeface="Canva Sans 1 Bold"/>
                </a:rPr>
                <a:t>: Trust Deficit &amp; Reporting Stigma• Jawans may fake check-in </a:t>
              </a:r>
              <a:r>
                <a:rPr lang="en-US" b="true" sz="1321">
                  <a:solidFill>
                    <a:srgbClr val="000000"/>
                  </a:solidFill>
                  <a:latin typeface="Canva Sans 1 Bold"/>
                  <a:ea typeface="Canva Sans 1 Bold"/>
                  <a:cs typeface="Canva Sans 1 Bold"/>
                  <a:sym typeface="Canva Sans 1 Bold"/>
                </a:rPr>
                <a:t>data out of fear that stress ratings will negatively impact their service files or promotions.</a:t>
              </a:r>
            </a:p>
            <a:p>
              <a:pPr algn="ctr">
                <a:lnSpc>
                  <a:spcPts val="1850"/>
                </a:lnSpc>
              </a:pPr>
              <a:r>
                <a:rPr lang="en-US" b="true" sz="1321">
                  <a:solidFill>
                    <a:srgbClr val="FFFFFF"/>
                  </a:solidFill>
                  <a:latin typeface="Canva Sans 1 Bold"/>
                  <a:ea typeface="Canva Sans 1 Bold"/>
                  <a:cs typeface="Canva Sans 1 Bold"/>
                  <a:sym typeface="Canva Sans 1 Bold"/>
                </a:rPr>
                <a:t>Strategy: Cryptographic Privacy Shield</a:t>
              </a:r>
            </a:p>
            <a:p>
              <a:pPr algn="ctr">
                <a:lnSpc>
                  <a:spcPts val="1850"/>
                </a:lnSpc>
              </a:pPr>
              <a:r>
                <a:rPr lang="en-US" b="true" sz="1321">
                  <a:solidFill>
                    <a:srgbClr val="000000"/>
                  </a:solidFill>
                  <a:latin typeface="Canva Sans 1 Bold"/>
                  <a:ea typeface="Canva Sans 1 Bold"/>
                  <a:cs typeface="Canva Sans 1 Bold"/>
                  <a:sym typeface="Canva Sans 1 Bold"/>
                </a:rPr>
                <a:t> Enforce a strict, explicit "I Consent to Welfare Monitoring" protocol that cryptographically air-gaps all health metrics from ACRs and disciplinary files.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2491003" y="1483028"/>
            <a:ext cx="3524038" cy="3265922"/>
            <a:chOff x="0" y="0"/>
            <a:chExt cx="4698718" cy="4354563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4698718" cy="4354563"/>
            </a:xfrm>
            <a:custGeom>
              <a:avLst/>
              <a:gdLst/>
              <a:ahLst/>
              <a:cxnLst/>
              <a:rect r="r" b="b" t="t" l="l"/>
              <a:pathLst>
                <a:path h="4354563" w="4698718">
                  <a:moveTo>
                    <a:pt x="0" y="0"/>
                  </a:moveTo>
                  <a:lnTo>
                    <a:pt x="4698718" y="0"/>
                  </a:lnTo>
                  <a:lnTo>
                    <a:pt x="4698718" y="4354563"/>
                  </a:lnTo>
                  <a:lnTo>
                    <a:pt x="0" y="43545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>
                <a:extLst>
                  <a:ext uri="{96DAC541-7B7A-43D3-8B79-37D633B846F1}">
                    <asvg:svgBlip xmlns:asvg="http://schemas.microsoft.com/office/drawing/2016/SVG/main" r:embed="rId17"/>
                  </a:ext>
                </a:extLst>
              </a:blip>
              <a:stretch>
                <a:fillRect l="-2957" t="0" r="-2957" b="0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 rot="0">
              <a:off x="240983" y="314541"/>
              <a:ext cx="4015509" cy="34914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750"/>
                </a:lnSpc>
              </a:pPr>
              <a:r>
                <a:rPr lang="en-US" sz="1250" b="true">
                  <a:solidFill>
                    <a:srgbClr val="FFFFFF"/>
                  </a:solidFill>
                  <a:latin typeface="Canva Sans 1 Bold"/>
                  <a:ea typeface="Canva Sans 1 Bold"/>
                  <a:cs typeface="Canva Sans 1 Bold"/>
                  <a:sym typeface="Canva Sans 1 Bold"/>
                </a:rPr>
                <a:t>Challenge 2: </a:t>
              </a:r>
              <a:r>
                <a:rPr lang="en-US" sz="1250" b="true">
                  <a:solidFill>
                    <a:srgbClr val="000000"/>
                  </a:solidFill>
                  <a:latin typeface="Canva Sans 1 Bold"/>
                  <a:ea typeface="Canva Sans 1 Bold"/>
                  <a:cs typeface="Canva Sans 1 Bold"/>
                  <a:sym typeface="Canva Sans 1 Bold"/>
                </a:rPr>
                <a:t>Biometric Noise &amp; Environmental Drift• Heavy bo</a:t>
              </a:r>
              <a:r>
                <a:rPr lang="en-US" b="true" sz="1250">
                  <a:solidFill>
                    <a:srgbClr val="000000"/>
                  </a:solidFill>
                  <a:latin typeface="Canva Sans 1 Bold"/>
                  <a:ea typeface="Canva Sans 1 Bold"/>
                  <a:cs typeface="Canva Sans 1 Bold"/>
                  <a:sym typeface="Canva Sans 1 Bold"/>
                </a:rPr>
                <a:t>dy armor, extreme climates, and high-altitude hypoxia cause false anomalies in raw physiological sensor data.</a:t>
              </a:r>
            </a:p>
            <a:p>
              <a:pPr algn="ctr">
                <a:lnSpc>
                  <a:spcPts val="1750"/>
                </a:lnSpc>
              </a:pPr>
              <a:r>
                <a:rPr lang="en-US" b="true" sz="1250">
                  <a:solidFill>
                    <a:srgbClr val="FFFFFF"/>
                  </a:solidFill>
                  <a:latin typeface="Canva Sans 1 Bold"/>
                  <a:ea typeface="Canva Sans 1 Bold"/>
                  <a:cs typeface="Canva Sans 1 Bold"/>
                  <a:sym typeface="Canva Sans 1 Bold"/>
                </a:rPr>
                <a:t> Strategy: Multi-Dimensional Diagnostics</a:t>
              </a:r>
            </a:p>
            <a:p>
              <a:pPr algn="ctr">
                <a:lnSpc>
                  <a:spcPts val="1750"/>
                </a:lnSpc>
              </a:pPr>
              <a:r>
                <a:rPr lang="en-US" b="true" sz="1250">
                  <a:solidFill>
                    <a:srgbClr val="000000"/>
                  </a:solidFill>
                  <a:latin typeface="Canva Sans 1 Bold"/>
                  <a:ea typeface="Canva Sans 1 Bold"/>
                  <a:cs typeface="Canva Sans 1 Bold"/>
                  <a:sym typeface="Canva Sans 1 Bold"/>
                </a:rPr>
                <a:t> Cross-analyze vitals against a 6-month resilience radar, leave deprivation logs, and night shift frequencies to filter out environmental spikes.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5564985" y="5645435"/>
            <a:ext cx="3879334" cy="3394417"/>
            <a:chOff x="0" y="0"/>
            <a:chExt cx="5172445" cy="4525889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5172445" cy="4525889"/>
            </a:xfrm>
            <a:custGeom>
              <a:avLst/>
              <a:gdLst/>
              <a:ahLst/>
              <a:cxnLst/>
              <a:rect r="r" b="b" t="t" l="l"/>
              <a:pathLst>
                <a:path h="4525889" w="5172445">
                  <a:moveTo>
                    <a:pt x="0" y="0"/>
                  </a:moveTo>
                  <a:lnTo>
                    <a:pt x="5172445" y="0"/>
                  </a:lnTo>
                  <a:lnTo>
                    <a:pt x="5172445" y="4525889"/>
                  </a:lnTo>
                  <a:lnTo>
                    <a:pt x="0" y="45258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>
                <a:extLst>
                  <a:ext uri="{96DAC541-7B7A-43D3-8B79-37D633B846F1}">
                    <asvg:svgBlip xmlns:asvg="http://schemas.microsoft.com/office/drawing/2016/SVG/main" r:embed="rId1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 rot="0">
              <a:off x="456750" y="335716"/>
              <a:ext cx="4072215" cy="407587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750"/>
                </a:lnSpc>
              </a:pPr>
              <a:r>
                <a:rPr lang="en-US" sz="1250" b="true">
                  <a:solidFill>
                    <a:srgbClr val="000000"/>
                  </a:solidFill>
                  <a:latin typeface="Canva Sans 1 Bold"/>
                  <a:ea typeface="Canva Sans 1 Bold"/>
                  <a:cs typeface="Canva Sans 1 Bold"/>
                  <a:sym typeface="Canva Sans 1 Bold"/>
                </a:rPr>
                <a:t> </a:t>
              </a:r>
              <a:r>
                <a:rPr lang="en-US" sz="1250" b="true">
                  <a:solidFill>
                    <a:srgbClr val="FFFFFF"/>
                  </a:solidFill>
                  <a:latin typeface="Canva Sans 1 Bold"/>
                  <a:ea typeface="Canva Sans 1 Bold"/>
                  <a:cs typeface="Canva Sans 1 Bold"/>
                  <a:sym typeface="Canva Sans 1 Bold"/>
                </a:rPr>
                <a:t>Challenge 3:</a:t>
              </a:r>
              <a:r>
                <a:rPr lang="en-US" sz="1250" b="true">
                  <a:solidFill>
                    <a:srgbClr val="000000"/>
                  </a:solidFill>
                  <a:latin typeface="Canva Sans 1 Bold"/>
                  <a:ea typeface="Canva Sans 1 Bold"/>
                  <a:cs typeface="Canva Sans 1 Bold"/>
                  <a:sym typeface="Canva Sans 1 Bold"/>
                </a:rPr>
                <a:t> Disconnected Hierarchy &amp; Communication Gap• Comman</a:t>
              </a:r>
              <a:r>
                <a:rPr lang="en-US" b="true" sz="1250">
                  <a:solidFill>
                    <a:srgbClr val="000000"/>
                  </a:solidFill>
                  <a:latin typeface="Canva Sans 1 Bold"/>
                  <a:ea typeface="Canva Sans 1 Bold"/>
                  <a:cs typeface="Canva Sans 1 Bold"/>
                  <a:sym typeface="Canva Sans 1 Bold"/>
                </a:rPr>
                <a:t>ders lack direct visibility into real-time force morale, while jawans remain isolated from support due to rigid military command lines.</a:t>
              </a:r>
            </a:p>
            <a:p>
              <a:pPr algn="ctr">
                <a:lnSpc>
                  <a:spcPts val="1730"/>
                </a:lnSpc>
              </a:pPr>
              <a:r>
                <a:rPr lang="en-US" b="true" sz="1236">
                  <a:solidFill>
                    <a:srgbClr val="FFFFFF"/>
                  </a:solidFill>
                  <a:latin typeface="Canva Sans 1 Bold"/>
                  <a:ea typeface="Canva Sans 1 Bold"/>
                  <a:cs typeface="Canva Sans 1 Bold"/>
                  <a:sym typeface="Canva Sans 1 Bold"/>
                </a:rPr>
                <a:t> Strategy: The Welfare Officer Air-Gapped Bridge</a:t>
              </a:r>
            </a:p>
            <a:p>
              <a:pPr algn="ctr">
                <a:lnSpc>
                  <a:spcPts val="1730"/>
                </a:lnSpc>
              </a:pPr>
              <a:r>
                <a:rPr lang="en-US" b="true" sz="1236">
                  <a:solidFill>
                    <a:srgbClr val="000000"/>
                  </a:solidFill>
                  <a:latin typeface="Canva Sans 1 Bold"/>
                  <a:ea typeface="Canva Sans 1 Bold"/>
                  <a:cs typeface="Canva Sans 1 Bold"/>
                  <a:sym typeface="Canva Sans 1 Bold"/>
                </a:rPr>
                <a:t> Introduce a Welfare Officer role acting as an air-gapped bridge—validating severity and advising commanders while keeping jawans' raw personal data completely private.</a:t>
              </a:r>
            </a:p>
            <a:p>
              <a:pPr algn="ctr">
                <a:lnSpc>
                  <a:spcPts val="1730"/>
                </a:lnSpc>
              </a:pP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8229319" y="1811703"/>
            <a:ext cx="3435607" cy="3093470"/>
            <a:chOff x="0" y="0"/>
            <a:chExt cx="4580810" cy="4124627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4580810" cy="4124627"/>
            </a:xfrm>
            <a:custGeom>
              <a:avLst/>
              <a:gdLst/>
              <a:ahLst/>
              <a:cxnLst/>
              <a:rect r="r" b="b" t="t" l="l"/>
              <a:pathLst>
                <a:path h="4124627" w="4580810">
                  <a:moveTo>
                    <a:pt x="0" y="0"/>
                  </a:moveTo>
                  <a:lnTo>
                    <a:pt x="4580810" y="0"/>
                  </a:lnTo>
                  <a:lnTo>
                    <a:pt x="4580810" y="4124627"/>
                  </a:lnTo>
                  <a:lnTo>
                    <a:pt x="0" y="41246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>
                <a:extLst>
                  <a:ext uri="{96DAC541-7B7A-43D3-8B79-37D633B846F1}">
                    <asvg:svgBlip xmlns:asvg="http://schemas.microsoft.com/office/drawing/2016/SVG/main" r:embed="rId17"/>
                  </a:ext>
                </a:extLst>
              </a:blip>
              <a:stretch>
                <a:fillRect l="-1452" t="0" r="-1452" b="0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 rot="0">
              <a:off x="204747" y="379226"/>
              <a:ext cx="4055409" cy="31993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749"/>
                </a:lnSpc>
              </a:pPr>
              <a:r>
                <a:rPr lang="en-US" sz="1249" b="true">
                  <a:solidFill>
                    <a:srgbClr val="FFFFFF"/>
                  </a:solidFill>
                  <a:latin typeface="Canva Sans 1 Bold"/>
                  <a:ea typeface="Canva Sans 1 Bold"/>
                  <a:cs typeface="Canva Sans 1 Bold"/>
                  <a:sym typeface="Canva Sans 1 Bold"/>
                </a:rPr>
                <a:t>Challenge 4: </a:t>
              </a:r>
              <a:r>
                <a:rPr lang="en-US" sz="1249" b="true">
                  <a:solidFill>
                    <a:srgbClr val="000000"/>
                  </a:solidFill>
                  <a:latin typeface="Canva Sans 1 Bold"/>
                  <a:ea typeface="Canva Sans 1 Bold"/>
                  <a:cs typeface="Canva Sans 1 Bold"/>
                  <a:sym typeface="Canva Sans 1 Bold"/>
                </a:rPr>
                <a:t>Command Approval Delays in Crisis• Waiting</a:t>
              </a:r>
              <a:r>
                <a:rPr lang="en-US" b="true" sz="1249">
                  <a:solidFill>
                    <a:srgbClr val="000000"/>
                  </a:solidFill>
                  <a:latin typeface="Canva Sans 1 Bold"/>
                  <a:ea typeface="Canva Sans 1 Bold"/>
                  <a:cs typeface="Canva Sans 1 Bold"/>
                  <a:sym typeface="Canva Sans 1 Bold"/>
                </a:rPr>
                <a:t> for standard chain-of-command sign-offs blocks urgent mental health interventions during high-stress breakthroughs.</a:t>
              </a:r>
            </a:p>
            <a:p>
              <a:pPr algn="ctr">
                <a:lnSpc>
                  <a:spcPts val="1749"/>
                </a:lnSpc>
              </a:pPr>
              <a:r>
                <a:rPr lang="en-US" b="true" sz="1249">
                  <a:solidFill>
                    <a:srgbClr val="FFFFFF"/>
                  </a:solidFill>
                  <a:latin typeface="Canva Sans 1 Bold"/>
                  <a:ea typeface="Canva Sans 1 Bold"/>
                  <a:cs typeface="Canva Sans 1 Bold"/>
                  <a:sym typeface="Canva Sans 1 Bold"/>
                </a:rPr>
                <a:t> Strategy: 75% Rapid Triage Protocol</a:t>
              </a:r>
            </a:p>
            <a:p>
              <a:pPr algn="ctr">
                <a:lnSpc>
                  <a:spcPts val="1749"/>
                </a:lnSpc>
              </a:pPr>
              <a:r>
                <a:rPr lang="en-US" b="true" sz="1249">
                  <a:solidFill>
                    <a:srgbClr val="000000"/>
                  </a:solidFill>
                  <a:latin typeface="Canva Sans 1 Bold"/>
                  <a:ea typeface="Canva Sans 1 Bold"/>
                  <a:cs typeface="Canva Sans 1 Bold"/>
                  <a:sym typeface="Canva Sans 1 Bold"/>
                </a:rPr>
                <a:t> Bypass the manual queue automatically when live stress crosses 75%, routing immediate clinical counseling alerts straight to the Medical Officer desk.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1447958" y="5798154"/>
            <a:ext cx="3712046" cy="3046847"/>
            <a:chOff x="0" y="0"/>
            <a:chExt cx="4949395" cy="4062463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4949395" cy="4062463"/>
            </a:xfrm>
            <a:custGeom>
              <a:avLst/>
              <a:gdLst/>
              <a:ahLst/>
              <a:cxnLst/>
              <a:rect r="r" b="b" t="t" l="l"/>
              <a:pathLst>
                <a:path h="4062463" w="4949395">
                  <a:moveTo>
                    <a:pt x="0" y="0"/>
                  </a:moveTo>
                  <a:lnTo>
                    <a:pt x="4949395" y="0"/>
                  </a:lnTo>
                  <a:lnTo>
                    <a:pt x="4949395" y="4062463"/>
                  </a:lnTo>
                  <a:lnTo>
                    <a:pt x="0" y="40624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>
                <a:extLst>
                  <a:ext uri="{96DAC541-7B7A-43D3-8B79-37D633B846F1}">
                    <asvg:svgBlip xmlns:asvg="http://schemas.microsoft.com/office/drawing/2016/SVG/main" r:embed="rId17"/>
                  </a:ext>
                </a:extLst>
              </a:blip>
              <a:stretch>
                <a:fillRect l="0" t="-3301" r="0" b="-3301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 rot="0">
              <a:off x="253839" y="314541"/>
              <a:ext cx="4229737" cy="31993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750"/>
                </a:lnSpc>
              </a:pPr>
              <a:r>
                <a:rPr lang="en-US" sz="1250" b="true">
                  <a:solidFill>
                    <a:srgbClr val="FFFFFF"/>
                  </a:solidFill>
                  <a:latin typeface="Canva Sans 1 Bold"/>
                  <a:ea typeface="Canva Sans 1 Bold"/>
                  <a:cs typeface="Canva Sans 1 Bold"/>
                  <a:sym typeface="Canva Sans 1 Bold"/>
                </a:rPr>
                <a:t>Challenge 5:</a:t>
              </a:r>
              <a:r>
                <a:rPr lang="en-US" sz="1250" b="true">
                  <a:solidFill>
                    <a:srgbClr val="000000"/>
                  </a:solidFill>
                  <a:latin typeface="Canva Sans 1 Bold"/>
                  <a:ea typeface="Canva Sans 1 Bold"/>
                  <a:cs typeface="Canva Sans 1 Bold"/>
                  <a:sym typeface="Canva Sans 1 Bold"/>
                </a:rPr>
                <a:t> Lack of Immediate Field Decompression• Jawans</a:t>
              </a:r>
              <a:r>
                <a:rPr lang="en-US" b="true" sz="1250">
                  <a:solidFill>
                    <a:srgbClr val="000000"/>
                  </a:solidFill>
                  <a:latin typeface="Canva Sans 1 Bold"/>
                  <a:ea typeface="Canva Sans 1 Bold"/>
                  <a:cs typeface="Canva Sans 1 Bold"/>
                  <a:sym typeface="Canva Sans 1 Bold"/>
                </a:rPr>
                <a:t> cannot access psychological counseling in active zones during sudden panic or high-adrenaline combat surges.</a:t>
              </a:r>
            </a:p>
            <a:p>
              <a:pPr algn="ctr">
                <a:lnSpc>
                  <a:spcPts val="1750"/>
                </a:lnSpc>
              </a:pPr>
              <a:r>
                <a:rPr lang="en-US" b="true" sz="1250">
                  <a:solidFill>
                    <a:srgbClr val="000000"/>
                  </a:solidFill>
                  <a:latin typeface="Canva Sans 1 Bold"/>
                  <a:ea typeface="Canva Sans 1 Bold"/>
                  <a:cs typeface="Canva Sans 1 Bold"/>
                  <a:sym typeface="Canva Sans 1 Bold"/>
                </a:rPr>
                <a:t> </a:t>
              </a:r>
              <a:r>
                <a:rPr lang="en-US" b="true" sz="1250">
                  <a:solidFill>
                    <a:srgbClr val="FFFFFF"/>
                  </a:solidFill>
                  <a:latin typeface="Canva Sans 1 Bold"/>
                  <a:ea typeface="Canva Sans 1 Bold"/>
                  <a:cs typeface="Canva Sans 1 Bold"/>
                  <a:sym typeface="Canva Sans 1 Bold"/>
                </a:rPr>
                <a:t>Strategy: In-Situ Neuro-Resilience Stations</a:t>
              </a:r>
            </a:p>
            <a:p>
              <a:pPr algn="ctr">
                <a:lnSpc>
                  <a:spcPts val="1750"/>
                </a:lnSpc>
              </a:pPr>
              <a:r>
                <a:rPr lang="en-US" b="true" sz="1250">
                  <a:solidFill>
                    <a:srgbClr val="000000"/>
                  </a:solidFill>
                  <a:latin typeface="Canva Sans 1 Bold"/>
                  <a:ea typeface="Canva Sans 1 Bold"/>
                  <a:cs typeface="Canva Sans 1 Bold"/>
                  <a:sym typeface="Canva Sans 1 Bold"/>
                </a:rPr>
                <a:t> Embed 4-4-4-4 tactical box breathing counters, post-patrol muscle relaxation flows, and acoustic pink noise directly inside the client interface.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532144"/>
            <a:ext cx="18288000" cy="754856"/>
            <a:chOff x="0" y="0"/>
            <a:chExt cx="24384000" cy="10064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4710677" y="2248"/>
            <a:ext cx="8866646" cy="1082018"/>
            <a:chOff x="0" y="0"/>
            <a:chExt cx="11822195" cy="144269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1822195" cy="1442690"/>
            </a:xfrm>
            <a:custGeom>
              <a:avLst/>
              <a:gdLst/>
              <a:ahLst/>
              <a:cxnLst/>
              <a:rect r="r" b="b" t="t" l="l"/>
              <a:pathLst>
                <a:path h="1442690" w="11822195">
                  <a:moveTo>
                    <a:pt x="0" y="0"/>
                  </a:moveTo>
                  <a:lnTo>
                    <a:pt x="11822195" y="0"/>
                  </a:lnTo>
                  <a:lnTo>
                    <a:pt x="11822195" y="1442690"/>
                  </a:lnTo>
                  <a:lnTo>
                    <a:pt x="0" y="144269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7171" r="-85630" b="-275625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11822195" cy="14712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sz="54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IMPACT AND BENEFITS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5689600" cy="768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b="true" sz="1800">
                  <a:solidFill>
                    <a:srgbClr val="FFFFFF"/>
                  </a:solidFill>
                  <a:latin typeface="Trade Gothic Condensed Bold"/>
                  <a:ea typeface="Trade Gothic Condensed Bold"/>
                  <a:cs typeface="Trade Gothic Condensed Bold"/>
                  <a:sym typeface="Trade Gothic Condensed Bold"/>
                </a:rPr>
                <a:t>5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972300" y="9534525"/>
            <a:ext cx="4806001" cy="547688"/>
            <a:chOff x="0" y="0"/>
            <a:chExt cx="6408001" cy="7302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408000" cy="730250"/>
            </a:xfrm>
            <a:custGeom>
              <a:avLst/>
              <a:gdLst/>
              <a:ahLst/>
              <a:cxnLst/>
              <a:rect r="r" b="b" t="t" l="l"/>
              <a:pathLst>
                <a:path h="730250" w="640800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0982" r="0" b="-120982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6408001" cy="768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Trade Gothic Condensed"/>
                  <a:ea typeface="Trade Gothic Condensed"/>
                  <a:cs typeface="Trade Gothic Condensed"/>
                  <a:sym typeface="Trade Gothic Condensed"/>
                </a:rPr>
                <a:t>@SIH Idea submission- Template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5116610" y="2248"/>
            <a:ext cx="2928292" cy="1382684"/>
            <a:chOff x="0" y="0"/>
            <a:chExt cx="4499699" cy="212467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1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245993" y="36871"/>
            <a:ext cx="1774831" cy="1774831"/>
            <a:chOff x="0" y="0"/>
            <a:chExt cx="2245728" cy="224572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245741" cy="2245741"/>
            </a:xfrm>
            <a:custGeom>
              <a:avLst/>
              <a:gdLst/>
              <a:ahLst/>
              <a:cxnLst/>
              <a:rect r="r" b="b" t="t" l="l"/>
              <a:pathLst>
                <a:path h="2245741" w="2245741">
                  <a:moveTo>
                    <a:pt x="0" y="0"/>
                  </a:moveTo>
                  <a:lnTo>
                    <a:pt x="2245741" y="0"/>
                  </a:lnTo>
                  <a:lnTo>
                    <a:pt x="2245741" y="2245741"/>
                  </a:lnTo>
                  <a:lnTo>
                    <a:pt x="0" y="22457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899786" y="2155731"/>
            <a:ext cx="16488427" cy="2045874"/>
            <a:chOff x="0" y="0"/>
            <a:chExt cx="21984569" cy="272783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333203" cy="1749931"/>
            </a:xfrm>
            <a:custGeom>
              <a:avLst/>
              <a:gdLst/>
              <a:ahLst/>
              <a:cxnLst/>
              <a:rect r="r" b="b" t="t" l="l"/>
              <a:pathLst>
                <a:path h="1749931" w="3333203">
                  <a:moveTo>
                    <a:pt x="0" y="0"/>
                  </a:moveTo>
                  <a:lnTo>
                    <a:pt x="3333203" y="0"/>
                  </a:lnTo>
                  <a:lnTo>
                    <a:pt x="3333203" y="1749931"/>
                  </a:lnTo>
                  <a:lnTo>
                    <a:pt x="0" y="17499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 rot="0">
              <a:off x="192161" y="119332"/>
              <a:ext cx="2771080" cy="13906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098"/>
                </a:lnSpc>
              </a:pPr>
              <a:r>
                <a:rPr lang="en-US" sz="1749" b="true">
                  <a:solidFill>
                    <a:srgbClr val="111111"/>
                  </a:solidFill>
                  <a:latin typeface="Arial Bold"/>
                  <a:ea typeface="Arial Bold"/>
                  <a:cs typeface="Arial Bold"/>
                  <a:sym typeface="Arial Bold"/>
                </a:rPr>
                <a:t>Early identification of personnel needing welfare support.</a:t>
              </a:r>
            </a:p>
          </p:txBody>
        </p:sp>
        <p:sp>
          <p:nvSpPr>
            <p:cNvPr name="Freeform 20" id="20"/>
            <p:cNvSpPr/>
            <p:nvPr/>
          </p:nvSpPr>
          <p:spPr>
            <a:xfrm flipH="false" flipV="false" rot="0">
              <a:off x="4741965" y="874966"/>
              <a:ext cx="3333203" cy="1749931"/>
            </a:xfrm>
            <a:custGeom>
              <a:avLst/>
              <a:gdLst/>
              <a:ahLst/>
              <a:cxnLst/>
              <a:rect r="r" b="b" t="t" l="l"/>
              <a:pathLst>
                <a:path h="1749931" w="3333203">
                  <a:moveTo>
                    <a:pt x="0" y="0"/>
                  </a:moveTo>
                  <a:lnTo>
                    <a:pt x="3333203" y="0"/>
                  </a:lnTo>
                  <a:lnTo>
                    <a:pt x="3333203" y="1749931"/>
                  </a:lnTo>
                  <a:lnTo>
                    <a:pt x="0" y="17499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9497568" y="0"/>
              <a:ext cx="3333203" cy="1749931"/>
            </a:xfrm>
            <a:custGeom>
              <a:avLst/>
              <a:gdLst/>
              <a:ahLst/>
              <a:cxnLst/>
              <a:rect r="r" b="b" t="t" l="l"/>
              <a:pathLst>
                <a:path h="1749931" w="3333203">
                  <a:moveTo>
                    <a:pt x="0" y="0"/>
                  </a:moveTo>
                  <a:lnTo>
                    <a:pt x="3333203" y="0"/>
                  </a:lnTo>
                  <a:lnTo>
                    <a:pt x="3333203" y="1749931"/>
                  </a:lnTo>
                  <a:lnTo>
                    <a:pt x="0" y="17499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14119017" y="874966"/>
              <a:ext cx="3333203" cy="1749931"/>
            </a:xfrm>
            <a:custGeom>
              <a:avLst/>
              <a:gdLst/>
              <a:ahLst/>
              <a:cxnLst/>
              <a:rect r="r" b="b" t="t" l="l"/>
              <a:pathLst>
                <a:path h="1749931" w="3333203">
                  <a:moveTo>
                    <a:pt x="0" y="0"/>
                  </a:moveTo>
                  <a:lnTo>
                    <a:pt x="3333202" y="0"/>
                  </a:lnTo>
                  <a:lnTo>
                    <a:pt x="3333202" y="1749931"/>
                  </a:lnTo>
                  <a:lnTo>
                    <a:pt x="0" y="17499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18651367" y="0"/>
              <a:ext cx="3333203" cy="1749931"/>
            </a:xfrm>
            <a:custGeom>
              <a:avLst/>
              <a:gdLst/>
              <a:ahLst/>
              <a:cxnLst/>
              <a:rect r="r" b="b" t="t" l="l"/>
              <a:pathLst>
                <a:path h="1749931" w="3333203">
                  <a:moveTo>
                    <a:pt x="0" y="0"/>
                  </a:moveTo>
                  <a:lnTo>
                    <a:pt x="3333202" y="0"/>
                  </a:lnTo>
                  <a:lnTo>
                    <a:pt x="3333202" y="1749931"/>
                  </a:lnTo>
                  <a:lnTo>
                    <a:pt x="0" y="17499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4" id="24"/>
            <p:cNvSpPr/>
            <p:nvPr/>
          </p:nvSpPr>
          <p:spPr>
            <a:xfrm flipH="false" flipV="false" rot="-4907598">
              <a:off x="3451698" y="1434451"/>
              <a:ext cx="785676" cy="1402993"/>
            </a:xfrm>
            <a:custGeom>
              <a:avLst/>
              <a:gdLst/>
              <a:ahLst/>
              <a:cxnLst/>
              <a:rect r="r" b="b" t="t" l="l"/>
              <a:pathLst>
                <a:path h="1402993" w="785676">
                  <a:moveTo>
                    <a:pt x="0" y="0"/>
                  </a:moveTo>
                  <a:lnTo>
                    <a:pt x="785676" y="0"/>
                  </a:lnTo>
                  <a:lnTo>
                    <a:pt x="785676" y="1402993"/>
                  </a:lnTo>
                  <a:lnTo>
                    <a:pt x="0" y="14029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 rot="0">
              <a:off x="4870627" y="994298"/>
              <a:ext cx="2950541" cy="173353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098"/>
                </a:lnSpc>
              </a:pPr>
              <a:r>
                <a:rPr lang="en-US" sz="1749" b="true">
                  <a:solidFill>
                    <a:srgbClr val="111111"/>
                  </a:solidFill>
                  <a:latin typeface="Arial Bold"/>
                  <a:ea typeface="Arial Bold"/>
                  <a:cs typeface="Arial Bold"/>
                  <a:sym typeface="Arial Bold"/>
                </a:rPr>
                <a:t>Reduction in stress-related incidents and operational fatigue.</a:t>
              </a:r>
            </a:p>
            <a:p>
              <a:pPr algn="ctr">
                <a:lnSpc>
                  <a:spcPts val="2098"/>
                </a:lnSpc>
              </a:pPr>
            </a:p>
          </p:txBody>
        </p:sp>
        <p:sp>
          <p:nvSpPr>
            <p:cNvPr name="TextBox 26" id="26"/>
            <p:cNvSpPr txBox="true"/>
            <p:nvPr/>
          </p:nvSpPr>
          <p:spPr>
            <a:xfrm rot="0">
              <a:off x="9689729" y="119332"/>
              <a:ext cx="2788811" cy="173353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098"/>
                </a:lnSpc>
              </a:pPr>
              <a:r>
                <a:rPr lang="en-US" sz="1749" b="true">
                  <a:solidFill>
                    <a:srgbClr val="111111"/>
                  </a:solidFill>
                  <a:latin typeface="Arial Bold"/>
                  <a:ea typeface="Arial Bold"/>
                  <a:cs typeface="Arial Bold"/>
                  <a:sym typeface="Arial Bold"/>
                </a:rPr>
                <a:t>Improved mental well-being and workforce resilience.</a:t>
              </a:r>
            </a:p>
            <a:p>
              <a:pPr algn="ctr">
                <a:lnSpc>
                  <a:spcPts val="2098"/>
                </a:lnSpc>
              </a:pPr>
            </a:p>
          </p:txBody>
        </p:sp>
        <p:sp>
          <p:nvSpPr>
            <p:cNvPr name="TextBox 27" id="27"/>
            <p:cNvSpPr txBox="true"/>
            <p:nvPr/>
          </p:nvSpPr>
          <p:spPr>
            <a:xfrm rot="0">
              <a:off x="14329587" y="994298"/>
              <a:ext cx="2771080" cy="173353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098"/>
                </a:lnSpc>
              </a:pPr>
              <a:r>
                <a:rPr lang="en-US" sz="1749" b="true">
                  <a:solidFill>
                    <a:srgbClr val="111111"/>
                  </a:solidFill>
                  <a:latin typeface="Arial Bold"/>
                  <a:ea typeface="Arial Bold"/>
                  <a:cs typeface="Arial Bold"/>
                  <a:sym typeface="Arial Bold"/>
                </a:rPr>
                <a:t>Better workload distribution and personnel management.</a:t>
              </a:r>
            </a:p>
            <a:p>
              <a:pPr algn="ctr">
                <a:lnSpc>
                  <a:spcPts val="2098"/>
                </a:lnSpc>
              </a:pPr>
            </a:p>
          </p:txBody>
        </p:sp>
        <p:sp>
          <p:nvSpPr>
            <p:cNvPr name="TextBox 28" id="28"/>
            <p:cNvSpPr txBox="true"/>
            <p:nvPr/>
          </p:nvSpPr>
          <p:spPr>
            <a:xfrm rot="0">
              <a:off x="18843528" y="119332"/>
              <a:ext cx="2771080" cy="173353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098"/>
                </a:lnSpc>
              </a:pPr>
              <a:r>
                <a:rPr lang="en-US" sz="1749" b="true">
                  <a:solidFill>
                    <a:srgbClr val="111111"/>
                  </a:solidFill>
                  <a:latin typeface="Arial Bold"/>
                  <a:ea typeface="Arial Bold"/>
                  <a:cs typeface="Arial Bold"/>
                  <a:sym typeface="Arial Bold"/>
                </a:rPr>
                <a:t>Enhanced force readiness and operational effectiveness.</a:t>
              </a:r>
            </a:p>
            <a:p>
              <a:pPr algn="ctr">
                <a:lnSpc>
                  <a:spcPts val="2098"/>
                </a:lnSpc>
              </a:pPr>
            </a:p>
          </p:txBody>
        </p:sp>
        <p:sp>
          <p:nvSpPr>
            <p:cNvPr name="Freeform 29" id="29"/>
            <p:cNvSpPr/>
            <p:nvPr/>
          </p:nvSpPr>
          <p:spPr>
            <a:xfrm flipH="true" flipV="false" rot="-5400000">
              <a:off x="8266530" y="-80987"/>
              <a:ext cx="785676" cy="1402993"/>
            </a:xfrm>
            <a:custGeom>
              <a:avLst/>
              <a:gdLst/>
              <a:ahLst/>
              <a:cxnLst/>
              <a:rect r="r" b="b" t="t" l="l"/>
              <a:pathLst>
                <a:path h="1402993" w="785676">
                  <a:moveTo>
                    <a:pt x="785676" y="0"/>
                  </a:moveTo>
                  <a:lnTo>
                    <a:pt x="0" y="0"/>
                  </a:lnTo>
                  <a:lnTo>
                    <a:pt x="0" y="1402993"/>
                  </a:lnTo>
                  <a:lnTo>
                    <a:pt x="785676" y="1402993"/>
                  </a:lnTo>
                  <a:lnTo>
                    <a:pt x="785676" y="0"/>
                  </a:lnTo>
                  <a:close/>
                </a:path>
              </a:pathLst>
            </a:custGeom>
            <a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30" id="30"/>
            <p:cNvSpPr/>
            <p:nvPr/>
          </p:nvSpPr>
          <p:spPr>
            <a:xfrm flipH="false" flipV="false" rot="-4907598">
              <a:off x="12988490" y="1434451"/>
              <a:ext cx="785676" cy="1402993"/>
            </a:xfrm>
            <a:custGeom>
              <a:avLst/>
              <a:gdLst/>
              <a:ahLst/>
              <a:cxnLst/>
              <a:rect r="r" b="b" t="t" l="l"/>
              <a:pathLst>
                <a:path h="1402993" w="785676">
                  <a:moveTo>
                    <a:pt x="0" y="0"/>
                  </a:moveTo>
                  <a:lnTo>
                    <a:pt x="785676" y="0"/>
                  </a:lnTo>
                  <a:lnTo>
                    <a:pt x="785676" y="1402993"/>
                  </a:lnTo>
                  <a:lnTo>
                    <a:pt x="0" y="14029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31" id="31"/>
            <p:cNvSpPr/>
            <p:nvPr/>
          </p:nvSpPr>
          <p:spPr>
            <a:xfrm flipH="true" flipV="false" rot="-5400000">
              <a:off x="17522049" y="-170276"/>
              <a:ext cx="785676" cy="1402993"/>
            </a:xfrm>
            <a:custGeom>
              <a:avLst/>
              <a:gdLst/>
              <a:ahLst/>
              <a:cxnLst/>
              <a:rect r="r" b="b" t="t" l="l"/>
              <a:pathLst>
                <a:path h="1402993" w="785676">
                  <a:moveTo>
                    <a:pt x="785676" y="0"/>
                  </a:moveTo>
                  <a:lnTo>
                    <a:pt x="0" y="0"/>
                  </a:lnTo>
                  <a:lnTo>
                    <a:pt x="0" y="1402993"/>
                  </a:lnTo>
                  <a:lnTo>
                    <a:pt x="785676" y="1402993"/>
                  </a:lnTo>
                  <a:lnTo>
                    <a:pt x="785676" y="0"/>
                  </a:lnTo>
                  <a:close/>
                </a:path>
              </a:pathLst>
            </a:custGeom>
            <a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32" id="32"/>
          <p:cNvSpPr txBox="true"/>
          <p:nvPr/>
        </p:nvSpPr>
        <p:spPr>
          <a:xfrm rot="0">
            <a:off x="8075568" y="1002202"/>
            <a:ext cx="2136864" cy="6892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38"/>
              </a:lnSpc>
            </a:pPr>
            <a:r>
              <a:rPr lang="en-US" b="true" sz="4027" u="sng">
                <a:solidFill>
                  <a:srgbClr val="1800AD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Impacts</a:t>
            </a:r>
            <a:r>
              <a:rPr lang="en-US" b="true" sz="4027">
                <a:solidFill>
                  <a:srgbClr val="1800AD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 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7931835" y="4260105"/>
            <a:ext cx="2424331" cy="7568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73"/>
              </a:lnSpc>
            </a:pPr>
            <a:r>
              <a:rPr lang="en-US" b="true" sz="4409" u="sng">
                <a:solidFill>
                  <a:srgbClr val="1800AD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Benefits</a:t>
            </a:r>
            <a:r>
              <a:rPr lang="en-US" sz="4409" b="true">
                <a:solidFill>
                  <a:srgbClr val="1800AD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 </a:t>
            </a:r>
          </a:p>
        </p:txBody>
      </p:sp>
      <p:sp>
        <p:nvSpPr>
          <p:cNvPr name="Freeform 34" id="34"/>
          <p:cNvSpPr/>
          <p:nvPr/>
        </p:nvSpPr>
        <p:spPr>
          <a:xfrm flipH="false" flipV="false" rot="0">
            <a:off x="440024" y="5716518"/>
            <a:ext cx="2543642" cy="2786536"/>
          </a:xfrm>
          <a:custGeom>
            <a:avLst/>
            <a:gdLst/>
            <a:ahLst/>
            <a:cxnLst/>
            <a:rect r="r" b="b" t="t" l="l"/>
            <a:pathLst>
              <a:path h="2786536" w="2543642">
                <a:moveTo>
                  <a:pt x="0" y="0"/>
                </a:moveTo>
                <a:lnTo>
                  <a:pt x="2543643" y="0"/>
                </a:lnTo>
                <a:lnTo>
                  <a:pt x="2543643" y="2786536"/>
                </a:lnTo>
                <a:lnTo>
                  <a:pt x="0" y="2786536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-2524" t="-23724" r="-2524" b="-150250"/>
            </a:stretch>
          </a:blipFill>
          <a:ln w="19050" cap="rnd">
            <a:solidFill>
              <a:srgbClr val="000000"/>
            </a:solidFill>
            <a:prstDash val="solid"/>
            <a:round/>
          </a:ln>
        </p:spPr>
      </p:sp>
      <p:sp>
        <p:nvSpPr>
          <p:cNvPr name="TextBox 35" id="35"/>
          <p:cNvSpPr txBox="true"/>
          <p:nvPr/>
        </p:nvSpPr>
        <p:spPr>
          <a:xfrm rot="0">
            <a:off x="548315" y="6236139"/>
            <a:ext cx="2327061" cy="1724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78"/>
              </a:lnSpc>
            </a:pPr>
            <a:r>
              <a:rPr lang="en-US" sz="2148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Proactive Welfare Support</a:t>
            </a:r>
          </a:p>
          <a:p>
            <a:pPr algn="ctr">
              <a:lnSpc>
                <a:spcPts val="2128"/>
              </a:lnSpc>
            </a:pPr>
            <a:r>
              <a:rPr lang="en-US" sz="177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Early counseling &amp; intervention before crisis; reduces stress-related attrition.</a:t>
            </a:r>
          </a:p>
        </p:txBody>
      </p:sp>
      <p:sp>
        <p:nvSpPr>
          <p:cNvPr name="Freeform 36" id="36"/>
          <p:cNvSpPr/>
          <p:nvPr/>
        </p:nvSpPr>
        <p:spPr>
          <a:xfrm flipH="false" flipV="false" rot="0">
            <a:off x="3438856" y="5716518"/>
            <a:ext cx="2543642" cy="2786536"/>
          </a:xfrm>
          <a:custGeom>
            <a:avLst/>
            <a:gdLst/>
            <a:ahLst/>
            <a:cxnLst/>
            <a:rect r="r" b="b" t="t" l="l"/>
            <a:pathLst>
              <a:path h="2786536" w="2543642">
                <a:moveTo>
                  <a:pt x="0" y="0"/>
                </a:moveTo>
                <a:lnTo>
                  <a:pt x="2543642" y="0"/>
                </a:lnTo>
                <a:lnTo>
                  <a:pt x="2543642" y="2786536"/>
                </a:lnTo>
                <a:lnTo>
                  <a:pt x="0" y="2786536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-2524" t="-23724" r="-2524" b="-150250"/>
            </a:stretch>
          </a:blipFill>
          <a:ln w="19050" cap="rnd">
            <a:solidFill>
              <a:srgbClr val="000000"/>
            </a:solidFill>
            <a:prstDash val="solid"/>
            <a:round/>
          </a:ln>
        </p:spPr>
      </p:sp>
      <p:sp>
        <p:nvSpPr>
          <p:cNvPr name="TextBox 37" id="37"/>
          <p:cNvSpPr txBox="true"/>
          <p:nvPr/>
        </p:nvSpPr>
        <p:spPr>
          <a:xfrm rot="0">
            <a:off x="3547146" y="6236139"/>
            <a:ext cx="2330577" cy="19907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78"/>
              </a:lnSpc>
            </a:pPr>
            <a:r>
              <a:rPr lang="en-US" sz="2148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Data-Driven Planning</a:t>
            </a:r>
          </a:p>
          <a:p>
            <a:pPr algn="ctr">
              <a:lnSpc>
                <a:spcPts val="2100"/>
              </a:lnSpc>
            </a:pPr>
            <a:r>
              <a:rPr lang="en-US" sz="174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Evidence-based resource allocation; informs training &amp; duty scheduling.</a:t>
            </a:r>
          </a:p>
          <a:p>
            <a:pPr algn="ctr">
              <a:lnSpc>
                <a:spcPts val="2128"/>
              </a:lnSpc>
            </a:pPr>
          </a:p>
        </p:txBody>
      </p:sp>
      <p:sp>
        <p:nvSpPr>
          <p:cNvPr name="Freeform 38" id="38"/>
          <p:cNvSpPr/>
          <p:nvPr/>
        </p:nvSpPr>
        <p:spPr>
          <a:xfrm flipH="false" flipV="false" rot="0">
            <a:off x="6439698" y="5716518"/>
            <a:ext cx="2543642" cy="2786536"/>
          </a:xfrm>
          <a:custGeom>
            <a:avLst/>
            <a:gdLst/>
            <a:ahLst/>
            <a:cxnLst/>
            <a:rect r="r" b="b" t="t" l="l"/>
            <a:pathLst>
              <a:path h="2786536" w="2543642">
                <a:moveTo>
                  <a:pt x="0" y="0"/>
                </a:moveTo>
                <a:lnTo>
                  <a:pt x="2543642" y="0"/>
                </a:lnTo>
                <a:lnTo>
                  <a:pt x="2543642" y="2786536"/>
                </a:lnTo>
                <a:lnTo>
                  <a:pt x="0" y="2786536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-2524" t="-23724" r="-2524" b="-150250"/>
            </a:stretch>
          </a:blipFill>
          <a:ln w="19050" cap="rnd">
            <a:solidFill>
              <a:srgbClr val="000000"/>
            </a:solidFill>
            <a:prstDash val="solid"/>
            <a:round/>
          </a:ln>
        </p:spPr>
      </p:sp>
      <p:sp>
        <p:nvSpPr>
          <p:cNvPr name="TextBox 39" id="39"/>
          <p:cNvSpPr txBox="true"/>
          <p:nvPr/>
        </p:nvSpPr>
        <p:spPr>
          <a:xfrm rot="0">
            <a:off x="6547989" y="6236139"/>
            <a:ext cx="2327061" cy="2105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78"/>
              </a:lnSpc>
            </a:pPr>
            <a:r>
              <a:rPr lang="en-US" sz="2148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Higher Rete</a:t>
            </a:r>
            <a:r>
              <a:rPr lang="en-US" sz="2148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ntion &amp; Morale</a:t>
            </a:r>
          </a:p>
          <a:p>
            <a:pPr algn="ctr">
              <a:lnSpc>
                <a:spcPts val="2340"/>
              </a:lnSpc>
            </a:pPr>
            <a:r>
              <a:rPr lang="en-US" sz="194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Improved job satisfaction and stronger trust in leadership.</a:t>
            </a:r>
          </a:p>
          <a:p>
            <a:pPr algn="ctr">
              <a:lnSpc>
                <a:spcPts val="2128"/>
              </a:lnSpc>
            </a:pPr>
          </a:p>
        </p:txBody>
      </p:sp>
      <p:sp>
        <p:nvSpPr>
          <p:cNvPr name="Freeform 40" id="40"/>
          <p:cNvSpPr/>
          <p:nvPr/>
        </p:nvSpPr>
        <p:spPr>
          <a:xfrm flipH="false" flipV="false" rot="0">
            <a:off x="9440540" y="5716518"/>
            <a:ext cx="2543642" cy="2786536"/>
          </a:xfrm>
          <a:custGeom>
            <a:avLst/>
            <a:gdLst/>
            <a:ahLst/>
            <a:cxnLst/>
            <a:rect r="r" b="b" t="t" l="l"/>
            <a:pathLst>
              <a:path h="2786536" w="2543642">
                <a:moveTo>
                  <a:pt x="0" y="0"/>
                </a:moveTo>
                <a:lnTo>
                  <a:pt x="2543643" y="0"/>
                </a:lnTo>
                <a:lnTo>
                  <a:pt x="2543643" y="2786536"/>
                </a:lnTo>
                <a:lnTo>
                  <a:pt x="0" y="2786536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-2524" t="-23724" r="-2524" b="-150250"/>
            </a:stretch>
          </a:blipFill>
          <a:ln w="19050" cap="rnd">
            <a:solidFill>
              <a:srgbClr val="000000"/>
            </a:solidFill>
            <a:prstDash val="solid"/>
            <a:round/>
          </a:ln>
        </p:spPr>
      </p:sp>
      <p:sp>
        <p:nvSpPr>
          <p:cNvPr name="TextBox 41" id="41"/>
          <p:cNvSpPr txBox="true"/>
          <p:nvPr/>
        </p:nvSpPr>
        <p:spPr>
          <a:xfrm rot="0">
            <a:off x="9548831" y="6236139"/>
            <a:ext cx="2327061" cy="2028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78"/>
              </a:lnSpc>
            </a:pPr>
            <a:r>
              <a:rPr lang="en-US" sz="2148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Privacy-First</a:t>
            </a:r>
            <a:r>
              <a:rPr lang="en-US" sz="2148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 Design</a:t>
            </a:r>
          </a:p>
          <a:p>
            <a:pPr algn="ctr">
              <a:lnSpc>
                <a:spcPts val="2220"/>
              </a:lnSpc>
            </a:pPr>
            <a:r>
              <a:rPr lang="en-US" sz="184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Dignity and confidentiality protected; builds trust in system adoption.</a:t>
            </a:r>
          </a:p>
          <a:p>
            <a:pPr algn="ctr">
              <a:lnSpc>
                <a:spcPts val="2128"/>
              </a:lnSpc>
            </a:pPr>
          </a:p>
        </p:txBody>
      </p:sp>
      <p:sp>
        <p:nvSpPr>
          <p:cNvPr name="Freeform 42" id="42"/>
          <p:cNvSpPr/>
          <p:nvPr/>
        </p:nvSpPr>
        <p:spPr>
          <a:xfrm flipH="false" flipV="false" rot="0">
            <a:off x="12441383" y="5716518"/>
            <a:ext cx="2543642" cy="2786536"/>
          </a:xfrm>
          <a:custGeom>
            <a:avLst/>
            <a:gdLst/>
            <a:ahLst/>
            <a:cxnLst/>
            <a:rect r="r" b="b" t="t" l="l"/>
            <a:pathLst>
              <a:path h="2786536" w="2543642">
                <a:moveTo>
                  <a:pt x="0" y="0"/>
                </a:moveTo>
                <a:lnTo>
                  <a:pt x="2543642" y="0"/>
                </a:lnTo>
                <a:lnTo>
                  <a:pt x="2543642" y="2786536"/>
                </a:lnTo>
                <a:lnTo>
                  <a:pt x="0" y="2786536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-2524" t="-23724" r="-2524" b="-150250"/>
            </a:stretch>
          </a:blipFill>
          <a:ln w="19050" cap="rnd">
            <a:solidFill>
              <a:srgbClr val="000000"/>
            </a:solidFill>
            <a:prstDash val="solid"/>
            <a:round/>
          </a:ln>
        </p:spPr>
      </p:sp>
      <p:sp>
        <p:nvSpPr>
          <p:cNvPr name="TextBox 43" id="43"/>
          <p:cNvSpPr txBox="true"/>
          <p:nvPr/>
        </p:nvSpPr>
        <p:spPr>
          <a:xfrm rot="0">
            <a:off x="12549673" y="6236139"/>
            <a:ext cx="2327061" cy="20288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78"/>
              </a:lnSpc>
            </a:pPr>
            <a:r>
              <a:rPr lang="en-US" sz="2148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Operational Readiness</a:t>
            </a:r>
          </a:p>
          <a:p>
            <a:pPr algn="ctr">
              <a:lnSpc>
                <a:spcPts val="2219"/>
              </a:lnSpc>
            </a:pPr>
            <a:r>
              <a:rPr lang="en-US" sz="184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He</a:t>
            </a:r>
            <a:r>
              <a:rPr lang="en-US" sz="184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althier, resilient workforce with fewer fatigue-related incidents.</a:t>
            </a:r>
          </a:p>
          <a:p>
            <a:pPr algn="ctr">
              <a:lnSpc>
                <a:spcPts val="2128"/>
              </a:lnSpc>
            </a:pPr>
          </a:p>
        </p:txBody>
      </p:sp>
      <p:sp>
        <p:nvSpPr>
          <p:cNvPr name="Freeform 44" id="44"/>
          <p:cNvSpPr/>
          <p:nvPr/>
        </p:nvSpPr>
        <p:spPr>
          <a:xfrm flipH="false" flipV="false" rot="0">
            <a:off x="15442225" y="5716518"/>
            <a:ext cx="2543642" cy="2786536"/>
          </a:xfrm>
          <a:custGeom>
            <a:avLst/>
            <a:gdLst/>
            <a:ahLst/>
            <a:cxnLst/>
            <a:rect r="r" b="b" t="t" l="l"/>
            <a:pathLst>
              <a:path h="2786536" w="2543642">
                <a:moveTo>
                  <a:pt x="0" y="0"/>
                </a:moveTo>
                <a:lnTo>
                  <a:pt x="2543643" y="0"/>
                </a:lnTo>
                <a:lnTo>
                  <a:pt x="2543643" y="2786536"/>
                </a:lnTo>
                <a:lnTo>
                  <a:pt x="0" y="2786536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-2524" t="-23724" r="-2524" b="-150250"/>
            </a:stretch>
          </a:blipFill>
          <a:ln w="19050" cap="rnd">
            <a:solidFill>
              <a:srgbClr val="000000"/>
            </a:solidFill>
            <a:prstDash val="solid"/>
            <a:round/>
          </a:ln>
        </p:spPr>
      </p:sp>
      <p:sp>
        <p:nvSpPr>
          <p:cNvPr name="TextBox 45" id="45"/>
          <p:cNvSpPr txBox="true"/>
          <p:nvPr/>
        </p:nvSpPr>
        <p:spPr>
          <a:xfrm rot="0">
            <a:off x="15550516" y="6236139"/>
            <a:ext cx="2327061" cy="1952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78"/>
              </a:lnSpc>
            </a:pPr>
            <a:r>
              <a:rPr lang="en-US" sz="2148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Scal</a:t>
            </a:r>
            <a:r>
              <a:rPr lang="en-US" sz="2148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able Across Forces</a:t>
            </a:r>
          </a:p>
          <a:p>
            <a:pPr algn="ctr">
              <a:lnSpc>
                <a:spcPts val="2099"/>
              </a:lnSpc>
            </a:pPr>
            <a:r>
              <a:rPr lang="en-US" sz="174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Adaptable to CAPFs, Armed Forces &amp; State Police — an indigenous capability.</a:t>
            </a:r>
          </a:p>
          <a:p>
            <a:pPr algn="ctr">
              <a:lnSpc>
                <a:spcPts val="2128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532144"/>
            <a:ext cx="18288000" cy="754856"/>
            <a:chOff x="0" y="0"/>
            <a:chExt cx="24384000" cy="10064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475612" y="-106080"/>
            <a:ext cx="16459200" cy="1714500"/>
            <a:chOff x="0" y="0"/>
            <a:chExt cx="21945600" cy="228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sz="54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RESEARCH  AND REFERENCES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5689600" cy="768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b="true" sz="1800">
                  <a:solidFill>
                    <a:srgbClr val="FFFFFF"/>
                  </a:solidFill>
                  <a:latin typeface="Trade Gothic Condensed Bold"/>
                  <a:ea typeface="Trade Gothic Condensed Bold"/>
                  <a:cs typeface="Trade Gothic Condensed Bold"/>
                  <a:sym typeface="Trade Gothic Condensed Bold"/>
                </a:rPr>
                <a:t>6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972300" y="9534525"/>
            <a:ext cx="4806001" cy="547688"/>
            <a:chOff x="0" y="0"/>
            <a:chExt cx="6408001" cy="7302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408000" cy="730250"/>
            </a:xfrm>
            <a:custGeom>
              <a:avLst/>
              <a:gdLst/>
              <a:ahLst/>
              <a:cxnLst/>
              <a:rect r="r" b="b" t="t" l="l"/>
              <a:pathLst>
                <a:path h="730250" w="640800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0982" r="0" b="-120982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6408001" cy="768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Trade Gothic Condensed"/>
                  <a:ea typeface="Trade Gothic Condensed"/>
                  <a:cs typeface="Trade Gothic Condensed"/>
                  <a:sym typeface="Trade Gothic Condensed"/>
                </a:rPr>
                <a:t>@SIH Idea submission- Template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4670129" y="2248"/>
            <a:ext cx="3374774" cy="1593504"/>
            <a:chOff x="0" y="0"/>
            <a:chExt cx="4499699" cy="212467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1"/>
              </a:stretch>
            </a:blip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914400" y="2252476"/>
            <a:ext cx="9189720" cy="1724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9"/>
              </a:lnSpc>
            </a:pPr>
            <a:r>
              <a:rPr lang="en-US" sz="2299" b="true">
                <a:solidFill>
                  <a:srgbClr val="111111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CAPF Suicide Burden  </a:t>
            </a:r>
            <a:r>
              <a:rPr lang="en-US" sz="2299">
                <a:solidFill>
                  <a:srgbClr val="7A8791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2018-2022 (MHA data to Parliament)</a:t>
            </a:r>
          </a:p>
          <a:p>
            <a:pPr algn="l">
              <a:lnSpc>
                <a:spcPts val="2759"/>
              </a:lnSpc>
            </a:pPr>
            <a:r>
              <a:rPr lang="en-US" sz="2299">
                <a:solidFill>
                  <a:srgbClr val="3D475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654 CAPF personnel died by suicide in this period - 230 in CRPF, 174 in BSF, 89 in CISF - linked to prolonged deployment and workload stress.</a:t>
            </a:r>
          </a:p>
          <a:p>
            <a:pPr algn="l">
              <a:lnSpc>
                <a:spcPts val="2759"/>
              </a:lnSpc>
            </a:pPr>
            <a:r>
              <a:rPr lang="en-US" sz="2299">
                <a:solidFill>
                  <a:srgbClr val="0070C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Source: theprint.in/india/654-suicides-50000-resignations-in-5-years-the-crisis-stalking-indias-capfs/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14400" y="4528951"/>
            <a:ext cx="9189720" cy="1733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9"/>
              </a:lnSpc>
            </a:pPr>
            <a:r>
              <a:rPr lang="en-US" sz="2299" b="true">
                <a:solidFill>
                  <a:srgbClr val="111111"/>
                </a:solidFill>
                <a:latin typeface="Arial Bold"/>
                <a:ea typeface="Arial Bold"/>
                <a:cs typeface="Arial Bold"/>
                <a:sym typeface="Arial Bold"/>
              </a:rPr>
              <a:t>Decade-long Toll  </a:t>
            </a:r>
            <a:r>
              <a:rPr lang="en-US" sz="2299" i="true">
                <a:solidFill>
                  <a:srgbClr val="7A8791"/>
                </a:solidFill>
                <a:latin typeface="Arial Italics"/>
                <a:ea typeface="Arial Italics"/>
                <a:cs typeface="Arial Italics"/>
                <a:sym typeface="Arial Italics"/>
              </a:rPr>
              <a:t>Since 2011 (MHA data to Parliament, Aug 2023)</a:t>
            </a:r>
          </a:p>
          <a:p>
            <a:pPr algn="l">
              <a:lnSpc>
                <a:spcPts val="2759"/>
              </a:lnSpc>
            </a:pPr>
            <a:r>
              <a:rPr lang="en-US" sz="2299">
                <a:solidFill>
                  <a:srgbClr val="3D4750"/>
                </a:solidFill>
                <a:latin typeface="Arial"/>
                <a:ea typeface="Arial"/>
                <a:cs typeface="Arial"/>
                <a:sym typeface="Arial"/>
              </a:rPr>
              <a:t>1,532 CAPF personnel have died by suicide since 2011, out of a force of about nine lakh personnel.</a:t>
            </a:r>
          </a:p>
          <a:p>
            <a:pPr algn="l">
              <a:lnSpc>
                <a:spcPts val="2759"/>
              </a:lnSpc>
            </a:pPr>
            <a:r>
              <a:rPr lang="en-US" sz="2299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Source: eurasiantimes.com/a-sobbing-story-of-indian-military-more-soldiers/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14400" y="6677443"/>
            <a:ext cx="9189720" cy="1733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9"/>
              </a:lnSpc>
            </a:pPr>
            <a:r>
              <a:rPr lang="en-US" sz="2299" b="true">
                <a:solidFill>
                  <a:srgbClr val="111111"/>
                </a:solidFill>
                <a:latin typeface="Arial Bold"/>
                <a:ea typeface="Arial Bold"/>
                <a:cs typeface="Arial Bold"/>
                <a:sym typeface="Arial Bold"/>
              </a:rPr>
              <a:t>CRPF Fratricide-Suicide  </a:t>
            </a:r>
            <a:r>
              <a:rPr lang="en-US" sz="2299" i="true">
                <a:solidFill>
                  <a:srgbClr val="7A8791"/>
                </a:solidFill>
                <a:latin typeface="Arial Italics"/>
                <a:ea typeface="Arial Italics"/>
                <a:cs typeface="Arial Italics"/>
                <a:sym typeface="Arial Italics"/>
              </a:rPr>
              <a:t>February 2025, Imphal West, Manipur</a:t>
            </a:r>
          </a:p>
          <a:p>
            <a:pPr algn="l">
              <a:lnSpc>
                <a:spcPts val="2759"/>
              </a:lnSpc>
            </a:pPr>
            <a:r>
              <a:rPr lang="en-US" sz="2299">
                <a:solidFill>
                  <a:srgbClr val="3D4750"/>
                </a:solidFill>
                <a:latin typeface="Arial"/>
                <a:ea typeface="Arial"/>
                <a:cs typeface="Arial"/>
                <a:sym typeface="Arial"/>
              </a:rPr>
              <a:t>A CRPF havildar allegedly opened fire at his camp, killing two fellow soldiers before taking his own life.</a:t>
            </a:r>
          </a:p>
          <a:p>
            <a:pPr algn="l">
              <a:lnSpc>
                <a:spcPts val="2759"/>
              </a:lnSpc>
            </a:pPr>
            <a:r>
              <a:rPr lang="en-US" sz="2299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Source: etvbharat.com/en/!bharat/former-bsf-ig-emphasises-on-soft-or-peace-posting-for-security-force-personnel-enn25021505147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311252" y="2252476"/>
            <a:ext cx="5623560" cy="2524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111111"/>
                </a:solidFill>
                <a:latin typeface="Arial Bold"/>
                <a:ea typeface="Arial Bold"/>
                <a:cs typeface="Arial Bold"/>
                <a:sym typeface="Arial Bold"/>
              </a:rPr>
              <a:t>HRV-Based Burnout Detection (Operational/Military Contexts)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3D4750"/>
                </a:solidFill>
                <a:latin typeface="Arial"/>
                <a:ea typeface="Arial"/>
                <a:cs typeface="Arial"/>
                <a:sym typeface="Arial"/>
              </a:rPr>
              <a:t>Machine-learning models on multimodal physiological data enable early detection of autonomic instability and stress risk during training and operations.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Source: research.chalmers.se/publication/550439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311252" y="5433826"/>
            <a:ext cx="5623560" cy="2524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111111"/>
                </a:solidFill>
                <a:latin typeface="Arial Bold"/>
                <a:ea typeface="Arial Bold"/>
                <a:cs typeface="Arial Bold"/>
                <a:sym typeface="Arial Bold"/>
              </a:rPr>
              <a:t>HRV-Guided Burnout Early-Warning (Military Training)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3D4750"/>
                </a:solidFill>
                <a:latin typeface="Arial"/>
                <a:ea typeface="Arial"/>
                <a:cs typeface="Arial"/>
                <a:sym typeface="Arial"/>
              </a:rPr>
              <a:t>MODSIM 2025: RMSSD-based digital-twin simulation flags Stable, Fatigued or Burnout states to guide adaptive training load.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Source: modsimworld.org/papers/2025/MODSIM_2025_paper_64.pdf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245993" y="36871"/>
            <a:ext cx="1774831" cy="1774831"/>
            <a:chOff x="0" y="0"/>
            <a:chExt cx="2245728" cy="224572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245741" cy="2245741"/>
            </a:xfrm>
            <a:custGeom>
              <a:avLst/>
              <a:gdLst/>
              <a:ahLst/>
              <a:cxnLst/>
              <a:rect r="r" b="b" t="t" l="l"/>
              <a:pathLst>
                <a:path h="2245741" w="2245741">
                  <a:moveTo>
                    <a:pt x="0" y="0"/>
                  </a:moveTo>
                  <a:lnTo>
                    <a:pt x="2245741" y="0"/>
                  </a:lnTo>
                  <a:lnTo>
                    <a:pt x="2245741" y="2245741"/>
                  </a:lnTo>
                  <a:lnTo>
                    <a:pt x="0" y="22457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DAHWgGwFL34</dc:identifier>
  <dcterms:modified xsi:type="dcterms:W3CDTF">2011-08-01T06:04:30Z</dcterms:modified>
  <cp:revision>1</cp:revision>
  <dc:title>Problem Statement ID – SIH26186 Problem Statement Title- AI-Based Predictive Personnel Stress and Welfare Monitoring System for Uniformed Forces Theme- PS Category- Software/Hardware Team ID- Team Name (Registered on portal)</dc:title>
</cp:coreProperties>
</file>